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671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930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899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7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00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86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435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08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650" y="731520"/>
            <a:ext cx="6679191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303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936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907024"/>
            <a:ext cx="1011936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44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52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9"/>
            <a:ext cx="7734300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2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61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3945" y="746524"/>
            <a:ext cx="9732232" cy="356616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chemeClr val="accent2">
                    <a:lumMod val="75000"/>
                  </a:schemeClr>
                </a:solidFill>
              </a:rPr>
              <a:t>MODULE – I: Object Oriented Concepts in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3945" y="4425067"/>
            <a:ext cx="7543800" cy="1143000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chemeClr val="bg2">
                    <a:lumMod val="50000"/>
                  </a:schemeClr>
                </a:solidFill>
              </a:rPr>
              <a:t>Topic: Encapsulation and Abstraction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EF5189-237C-F49B-FC19-C127D3D3CBD3}"/>
              </a:ext>
            </a:extLst>
          </p:cNvPr>
          <p:cNvGrpSpPr/>
          <p:nvPr/>
        </p:nvGrpSpPr>
        <p:grpSpPr>
          <a:xfrm>
            <a:off x="1074657" y="843654"/>
            <a:ext cx="10312922" cy="1589280"/>
            <a:chOff x="0" y="-14877"/>
            <a:chExt cx="6381539" cy="967536"/>
          </a:xfrm>
        </p:grpSpPr>
        <p:pic>
          <p:nvPicPr>
            <p:cNvPr id="5" name="Picture 4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AE32B2EB-7AB8-E857-894B-A17C37759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BCC074B-6E59-BF32-C7A0-417C42DC8F7B}"/>
                </a:ext>
              </a:extLst>
            </p:cNvPr>
            <p:cNvGrpSpPr/>
            <p:nvPr/>
          </p:nvGrpSpPr>
          <p:grpSpPr>
            <a:xfrm>
              <a:off x="1282889" y="-14877"/>
              <a:ext cx="5098650" cy="967536"/>
              <a:chOff x="1316693" y="-14877"/>
              <a:chExt cx="5098791" cy="967562"/>
            </a:xfrm>
          </p:grpSpPr>
          <p:pic>
            <p:nvPicPr>
              <p:cNvPr id="7" name="Picture 6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106046DC-530D-1645-9464-903B5DBD23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2220101-2F58-9AAC-3297-8EB8FDF8BD86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E2C910C-C182-488F-132A-086BD5AC6A25}"/>
                  </a:ext>
                </a:extLst>
              </p:cNvPr>
              <p:cNvSpPr/>
              <p:nvPr/>
            </p:nvSpPr>
            <p:spPr>
              <a:xfrm>
                <a:off x="1316693" y="-14877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IN" sz="1600" kern="100" dirty="0">
                    <a:solidFill>
                      <a:srgbClr val="000000"/>
                    </a:solidFill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IN" sz="1600" kern="100" dirty="0">
                    <a:solidFill>
                      <a:srgbClr val="000000"/>
                    </a:solidFill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IN" sz="1600" kern="100" dirty="0">
                    <a:solidFill>
                      <a:srgbClr val="000000"/>
                    </a:solidFill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39B9CDA-F1AB-D4E8-01A7-20CFFCAD806F}"/>
              </a:ext>
            </a:extLst>
          </p:cNvPr>
          <p:cNvSpPr txBox="1"/>
          <p:nvPr/>
        </p:nvSpPr>
        <p:spPr>
          <a:xfrm>
            <a:off x="8964890" y="5155297"/>
            <a:ext cx="27583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chemeClr val="accent3">
                    <a:lumMod val="50000"/>
                  </a:schemeClr>
                </a:solidFill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55161"/>
            <a:ext cx="10058401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Define encapsulation and abstraction in C++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Explain data hiding using access specifiers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Implement encapsulation using classes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Demonstrate abstraction using classes and abstract classes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Differentiate encapsulation and abstraction with examples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Encapsulatio</a:t>
            </a:r>
            <a:r>
              <a:rPr lang="en-US" sz="4000" dirty="0">
                <a:latin typeface="Aptos" panose="020B0004020202020204" pitchFamily="34" charset="0"/>
              </a:rPr>
              <a:t>n</a:t>
            </a:r>
            <a:endParaRPr sz="4000" dirty="0">
              <a:latin typeface="Aptos" panose="020B00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Encapsulation is the process of wrapping data</a:t>
            </a:r>
            <a:r>
              <a:rPr lang="en-US" dirty="0"/>
              <a:t> (variables) </a:t>
            </a:r>
            <a:r>
              <a:rPr dirty="0"/>
              <a:t>and </a:t>
            </a:r>
            <a:r>
              <a:rPr lang="en-US" dirty="0"/>
              <a:t>functions (</a:t>
            </a:r>
            <a:r>
              <a:rPr dirty="0"/>
              <a:t>methods</a:t>
            </a:r>
            <a:r>
              <a:rPr lang="en-US" dirty="0"/>
              <a:t>)</a:t>
            </a:r>
            <a:r>
              <a:rPr dirty="0"/>
              <a:t> into a single unit (class).</a:t>
            </a:r>
          </a:p>
          <a:p>
            <a:endParaRPr dirty="0"/>
          </a:p>
          <a:p>
            <a:r>
              <a:rPr dirty="0"/>
              <a:t>Key Idea:</a:t>
            </a:r>
          </a:p>
          <a:p>
            <a:r>
              <a:rPr dirty="0"/>
              <a:t>Data + Functions = Encapsulation</a:t>
            </a:r>
          </a:p>
          <a:p>
            <a:endParaRPr dirty="0"/>
          </a:p>
          <a:p>
            <a:r>
              <a:rPr dirty="0"/>
              <a:t>Provides:</a:t>
            </a:r>
          </a:p>
          <a:p>
            <a:r>
              <a:rPr dirty="0"/>
              <a:t>• Data Hiding</a:t>
            </a:r>
          </a:p>
          <a:p>
            <a:r>
              <a:rPr dirty="0"/>
              <a:t>• Security</a:t>
            </a:r>
          </a:p>
          <a:p>
            <a:r>
              <a:rPr dirty="0"/>
              <a:t>• Controlled Access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Encapsulation – Real World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dirty="0"/>
              <a:t>ATM Machine → User accesses money but internal logic is hidden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Capsule Medicine → Content protected inside capsule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Bank Account → Balance hidden, accessed via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Encapsulation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       +----------------------+</a:t>
            </a:r>
          </a:p>
          <a:p>
            <a:r>
              <a:rPr dirty="0"/>
              <a:t>        |        Class         |</a:t>
            </a:r>
          </a:p>
          <a:p>
            <a:r>
              <a:rPr dirty="0"/>
              <a:t>        |----------------------|</a:t>
            </a:r>
          </a:p>
          <a:p>
            <a:r>
              <a:rPr dirty="0"/>
              <a:t>        |   Private Data  🔒   |</a:t>
            </a:r>
          </a:p>
          <a:p>
            <a:r>
              <a:rPr dirty="0"/>
              <a:t>        |----------------------|</a:t>
            </a:r>
          </a:p>
          <a:p>
            <a:r>
              <a:rPr dirty="0"/>
              <a:t>        |   Public Methods 🔑  |</a:t>
            </a:r>
          </a:p>
          <a:p>
            <a:r>
              <a:rPr dirty="0"/>
              <a:t>        +----------------------+</a:t>
            </a:r>
          </a:p>
          <a:p>
            <a:r>
              <a:rPr dirty="0"/>
              <a:t>             Controlled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Encapsulation –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class ClassName {</a:t>
            </a:r>
          </a:p>
          <a:p>
            <a:r>
              <a:t>private:</a:t>
            </a:r>
          </a:p>
          <a:p>
            <a:r>
              <a:t>    int data; // hidden data</a:t>
            </a:r>
          </a:p>
          <a:p>
            <a:endParaRPr/>
          </a:p>
          <a:p>
            <a:r>
              <a:t>public:</a:t>
            </a:r>
          </a:p>
          <a:p>
            <a:r>
              <a:t>    void setData(int d);</a:t>
            </a:r>
          </a:p>
          <a:p>
            <a:r>
              <a:t>    int getData();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Encapsulation – Example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#include &lt;iostream&gt;</a:t>
            </a:r>
          </a:p>
          <a:p>
            <a:r>
              <a:rPr dirty="0"/>
              <a:t>using namespace std;</a:t>
            </a:r>
          </a:p>
          <a:p>
            <a:endParaRPr dirty="0"/>
          </a:p>
          <a:p>
            <a:r>
              <a:rPr dirty="0"/>
              <a:t>class </a:t>
            </a:r>
            <a:r>
              <a:rPr dirty="0" err="1"/>
              <a:t>BankAccount</a:t>
            </a:r>
            <a:r>
              <a:rPr dirty="0"/>
              <a:t> {</a:t>
            </a:r>
          </a:p>
          <a:p>
            <a:r>
              <a:rPr dirty="0"/>
              <a:t>private:</a:t>
            </a:r>
          </a:p>
          <a:p>
            <a:r>
              <a:rPr dirty="0"/>
              <a:t>    double balance;</a:t>
            </a:r>
          </a:p>
          <a:p>
            <a:endParaRPr dirty="0"/>
          </a:p>
          <a:p>
            <a:r>
              <a:rPr dirty="0"/>
              <a:t>public:</a:t>
            </a:r>
          </a:p>
          <a:p>
            <a:r>
              <a:rPr dirty="0"/>
              <a:t>    void </a:t>
            </a:r>
            <a:r>
              <a:rPr dirty="0" err="1"/>
              <a:t>setBalance</a:t>
            </a:r>
            <a:r>
              <a:rPr dirty="0"/>
              <a:t>(double b){ if(b&gt;=0) balance=b; }</a:t>
            </a:r>
          </a:p>
          <a:p>
            <a:r>
              <a:rPr dirty="0"/>
              <a:t>    double </a:t>
            </a:r>
            <a:r>
              <a:rPr dirty="0" err="1"/>
              <a:t>getBalance</a:t>
            </a:r>
            <a:r>
              <a:rPr dirty="0"/>
              <a:t>(){ return balance; }</a:t>
            </a:r>
          </a:p>
          <a:p>
            <a:r>
              <a:rPr dirty="0"/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3BBACF-2909-C344-EAF8-0FA53093CAC9}"/>
              </a:ext>
            </a:extLst>
          </p:cNvPr>
          <p:cNvSpPr txBox="1"/>
          <p:nvPr/>
        </p:nvSpPr>
        <p:spPr>
          <a:xfrm>
            <a:off x="5941244" y="1845734"/>
            <a:ext cx="609442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dirty="0"/>
              <a:t>int main() {</a:t>
            </a:r>
          </a:p>
          <a:p>
            <a:r>
              <a:rPr lang="en-IN" sz="1700" dirty="0"/>
              <a:t>    </a:t>
            </a:r>
            <a:r>
              <a:rPr lang="en-IN" sz="1700" dirty="0" err="1"/>
              <a:t>BankAccount</a:t>
            </a:r>
            <a:r>
              <a:rPr lang="en-IN" sz="1700" dirty="0"/>
              <a:t> </a:t>
            </a:r>
            <a:r>
              <a:rPr lang="en-IN" sz="1700" dirty="0" err="1"/>
              <a:t>acc</a:t>
            </a:r>
            <a:r>
              <a:rPr lang="en-IN" sz="1700" dirty="0"/>
              <a:t>;</a:t>
            </a:r>
          </a:p>
          <a:p>
            <a:r>
              <a:rPr lang="en-IN" sz="1700" dirty="0"/>
              <a:t>    </a:t>
            </a:r>
            <a:r>
              <a:rPr lang="en-IN" sz="1700" dirty="0" err="1"/>
              <a:t>acc.setBalance</a:t>
            </a:r>
            <a:r>
              <a:rPr lang="en-IN" sz="1700" dirty="0"/>
              <a:t>(5000);</a:t>
            </a:r>
          </a:p>
          <a:p>
            <a:r>
              <a:rPr lang="en-IN" sz="1700" dirty="0"/>
              <a:t>    </a:t>
            </a:r>
            <a:r>
              <a:rPr lang="en-IN" sz="1700" dirty="0" err="1"/>
              <a:t>cout</a:t>
            </a:r>
            <a:r>
              <a:rPr lang="en-IN" sz="1700" dirty="0"/>
              <a:t> &lt;&lt; "Balance: " &lt;&lt; </a:t>
            </a:r>
            <a:r>
              <a:rPr lang="en-IN" sz="1700" dirty="0" err="1"/>
              <a:t>acc.getBalance</a:t>
            </a:r>
            <a:r>
              <a:rPr lang="en-IN" sz="1700" dirty="0"/>
              <a:t>();</a:t>
            </a:r>
          </a:p>
          <a:p>
            <a:r>
              <a:rPr lang="en-IN" sz="1700" dirty="0"/>
              <a:t>    return 0;</a:t>
            </a:r>
          </a:p>
          <a:p>
            <a:r>
              <a:rPr lang="en-IN" sz="1700"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Encapsulation – Program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Aptos" panose="020B0004020202020204" pitchFamily="34" charset="0"/>
              </a:rPr>
              <a:t>balance is declared as private</a:t>
            </a:r>
            <a:endParaRPr lang="en-US" dirty="0">
              <a:latin typeface="Aptos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Aptos" panose="020B0004020202020204" pitchFamily="34" charset="0"/>
              </a:rPr>
              <a:t>Cannot access balance directly from main()</a:t>
            </a:r>
            <a:endParaRPr lang="en-US" dirty="0">
              <a:latin typeface="Aptos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Aptos" panose="020B0004020202020204" pitchFamily="34" charset="0"/>
              </a:rPr>
              <a:t>Access only through public methods</a:t>
            </a:r>
            <a:endParaRPr lang="en-US" dirty="0">
              <a:latin typeface="Aptos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Aptos" panose="020B0004020202020204" pitchFamily="34" charset="0"/>
              </a:rPr>
              <a:t>Ensures validation and data security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5A129-EECD-A9A2-6108-9EBA34798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F7E87-C2EC-0AEE-E7AF-E599F21B7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Encapsulation – </a:t>
            </a:r>
            <a:r>
              <a:rPr lang="en-US" sz="4000" dirty="0">
                <a:latin typeface="Aptos" panose="020B0004020202020204" pitchFamily="34" charset="0"/>
              </a:rPr>
              <a:t>Advantages</a:t>
            </a:r>
            <a:endParaRPr sz="4000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3EAB0-B11C-5CD3-BE47-CF7FB0B11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ptos" panose="020B0004020202020204" pitchFamily="34" charset="0"/>
              </a:rPr>
              <a:t>Protects data from unauthorized access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ptos" panose="020B0004020202020204" pitchFamily="34" charset="0"/>
              </a:rPr>
              <a:t>Improves code modularity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ptos" panose="020B0004020202020204" pitchFamily="34" charset="0"/>
              </a:rPr>
              <a:t>Easy debugging and maintenance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ptos" panose="020B0004020202020204" pitchFamily="34" charset="0"/>
              </a:rPr>
              <a:t>Supports data hiding</a:t>
            </a:r>
            <a:endParaRPr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90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Abstraction is </a:t>
            </a:r>
            <a:r>
              <a:rPr lang="en-US" dirty="0"/>
              <a:t>the process of </a:t>
            </a:r>
            <a:r>
              <a:rPr dirty="0"/>
              <a:t>hiding implementation details and showing only essential features.</a:t>
            </a:r>
          </a:p>
          <a:p>
            <a:endParaRPr dirty="0"/>
          </a:p>
          <a:p>
            <a:r>
              <a:rPr dirty="0"/>
              <a:t>Key Idea:</a:t>
            </a:r>
          </a:p>
          <a:p>
            <a:r>
              <a:rPr dirty="0"/>
              <a:t>Show WHAT, Hide HOW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Abstraction – Real World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Car Driving → Steering used, engine logic hidden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Mobile Phone → Simple interface, complex circuits hidden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TV Remote → User presses buttons, internal working hidden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Abstraction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</a:t>
            </a:r>
          </a:p>
          <a:p>
            <a:r>
              <a:t>  ↓</a:t>
            </a:r>
          </a:p>
          <a:p>
            <a:r>
              <a:t>Public Interface (Functions)</a:t>
            </a:r>
          </a:p>
          <a:p>
            <a:r>
              <a:t>  ↓</a:t>
            </a:r>
          </a:p>
          <a:p>
            <a:r>
              <a:t>Hidden Implementation (Private Logic &amp; Data)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Abstraction Using Class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#include &lt;iostream&gt;</a:t>
            </a:r>
          </a:p>
          <a:p>
            <a:r>
              <a:rPr dirty="0"/>
              <a:t>using namespace std;</a:t>
            </a:r>
          </a:p>
          <a:p>
            <a:endParaRPr dirty="0"/>
          </a:p>
          <a:p>
            <a:r>
              <a:rPr dirty="0"/>
              <a:t>class Car {</a:t>
            </a:r>
          </a:p>
          <a:p>
            <a:r>
              <a:rPr dirty="0"/>
              <a:t>private:</a:t>
            </a:r>
          </a:p>
          <a:p>
            <a:r>
              <a:rPr dirty="0"/>
              <a:t>    void </a:t>
            </a:r>
            <a:r>
              <a:rPr dirty="0" err="1"/>
              <a:t>engineStart</a:t>
            </a:r>
            <a:r>
              <a:rPr dirty="0"/>
              <a:t>(){ </a:t>
            </a:r>
            <a:r>
              <a:rPr dirty="0" err="1"/>
              <a:t>cout</a:t>
            </a:r>
            <a:r>
              <a:rPr dirty="0"/>
              <a:t>&lt;&lt;"Engine Started\n"; }</a:t>
            </a:r>
          </a:p>
          <a:p>
            <a:r>
              <a:rPr dirty="0"/>
              <a:t>public:</a:t>
            </a:r>
          </a:p>
          <a:p>
            <a:r>
              <a:rPr dirty="0"/>
              <a:t>    void drive(){ </a:t>
            </a:r>
            <a:r>
              <a:rPr dirty="0" err="1"/>
              <a:t>engineStart</a:t>
            </a:r>
            <a:r>
              <a:rPr dirty="0"/>
              <a:t>(); </a:t>
            </a:r>
            <a:r>
              <a:rPr dirty="0" err="1"/>
              <a:t>cout</a:t>
            </a:r>
            <a:r>
              <a:rPr dirty="0"/>
              <a:t>&lt;&lt;"Car is Moving"; }</a:t>
            </a:r>
          </a:p>
          <a:p>
            <a:r>
              <a:rPr dirty="0"/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1DA93F-914C-46D9-3D43-A5E482EF4E3E}"/>
              </a:ext>
            </a:extLst>
          </p:cNvPr>
          <p:cNvSpPr txBox="1"/>
          <p:nvPr/>
        </p:nvSpPr>
        <p:spPr>
          <a:xfrm>
            <a:off x="6742522" y="1845734"/>
            <a:ext cx="6094428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dirty="0"/>
              <a:t>int main() {</a:t>
            </a:r>
          </a:p>
          <a:p>
            <a:r>
              <a:rPr lang="en-IN" sz="1700" dirty="0"/>
              <a:t>    Car c;</a:t>
            </a:r>
          </a:p>
          <a:p>
            <a:r>
              <a:rPr lang="en-IN" sz="1700" dirty="0"/>
              <a:t>    </a:t>
            </a:r>
            <a:r>
              <a:rPr lang="en-IN" sz="1700" dirty="0" err="1"/>
              <a:t>c.drive</a:t>
            </a:r>
            <a:r>
              <a:rPr lang="en-IN" sz="1700" dirty="0"/>
              <a:t>();</a:t>
            </a:r>
          </a:p>
          <a:p>
            <a:r>
              <a:rPr lang="en-IN" sz="1700" dirty="0"/>
              <a:t>    return 0;</a:t>
            </a:r>
          </a:p>
          <a:p>
            <a:r>
              <a:rPr lang="en-IN" sz="1700" dirty="0"/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Abstraction Using Abstract Class (Pure Virtual Function)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class Shape {</a:t>
            </a:r>
          </a:p>
          <a:p>
            <a:r>
              <a:rPr dirty="0"/>
              <a:t>public:</a:t>
            </a:r>
          </a:p>
          <a:p>
            <a:r>
              <a:rPr dirty="0"/>
              <a:t>    virtual void area() = 0; // Pure virtual function</a:t>
            </a:r>
          </a:p>
          <a:p>
            <a:r>
              <a:rPr dirty="0"/>
              <a:t>};</a:t>
            </a:r>
          </a:p>
          <a:p>
            <a:r>
              <a:rPr dirty="0"/>
              <a:t>class Rectangle : public Shape {</a:t>
            </a:r>
          </a:p>
          <a:p>
            <a:r>
              <a:rPr dirty="0"/>
              <a:t>public:</a:t>
            </a:r>
            <a:endParaRPr lang="en-US" dirty="0"/>
          </a:p>
          <a:p>
            <a:r>
              <a:rPr lang="fr-FR" dirty="0"/>
              <a:t>    Rectangle(</a:t>
            </a:r>
            <a:r>
              <a:rPr lang="fr-FR" dirty="0" err="1"/>
              <a:t>int</a:t>
            </a:r>
            <a:r>
              <a:rPr lang="fr-FR" dirty="0"/>
              <a:t> x, </a:t>
            </a:r>
            <a:r>
              <a:rPr lang="fr-FR" dirty="0" err="1"/>
              <a:t>int</a:t>
            </a:r>
            <a:r>
              <a:rPr lang="fr-FR" dirty="0"/>
              <a:t> y) {    l = x;   b = y;  }</a:t>
            </a:r>
            <a:endParaRPr dirty="0"/>
          </a:p>
          <a:p>
            <a:r>
              <a:rPr dirty="0"/>
              <a:t>    void area(){ </a:t>
            </a:r>
            <a:r>
              <a:rPr dirty="0" err="1"/>
              <a:t>cout</a:t>
            </a:r>
            <a:r>
              <a:rPr dirty="0"/>
              <a:t>&lt;&lt;"Area = l*b"; }</a:t>
            </a:r>
          </a:p>
          <a:p>
            <a:r>
              <a:rPr dirty="0"/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08BD-2527-9346-B352-DBE24A00B031}"/>
              </a:ext>
            </a:extLst>
          </p:cNvPr>
          <p:cNvSpPr txBox="1"/>
          <p:nvPr/>
        </p:nvSpPr>
        <p:spPr>
          <a:xfrm>
            <a:off x="6471503" y="1737362"/>
            <a:ext cx="609442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 main() {</a:t>
            </a:r>
          </a:p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Shape *s;</a:t>
            </a:r>
          </a:p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Rectangle r(5, 4);</a:t>
            </a:r>
          </a:p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s = &amp;r;</a:t>
            </a:r>
          </a:p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s-&gt;area();</a:t>
            </a:r>
          </a:p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return 0;</a:t>
            </a:r>
          </a:p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Encapsulation vs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Encapsulation:</a:t>
            </a:r>
          </a:p>
          <a:p>
            <a:r>
              <a:rPr dirty="0"/>
              <a:t>• Data hiding using private members</a:t>
            </a:r>
          </a:p>
          <a:p>
            <a:r>
              <a:rPr dirty="0"/>
              <a:t>• Focus on security</a:t>
            </a:r>
          </a:p>
          <a:p>
            <a:endParaRPr dirty="0"/>
          </a:p>
          <a:p>
            <a:r>
              <a:rPr dirty="0"/>
              <a:t>Abstraction:</a:t>
            </a:r>
          </a:p>
          <a:p>
            <a:r>
              <a:rPr dirty="0"/>
              <a:t>• Hides implementation details</a:t>
            </a:r>
          </a:p>
          <a:p>
            <a:r>
              <a:rPr dirty="0"/>
              <a:t>• Focus on simplicity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Exam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Define Encapsulation with example</a:t>
            </a:r>
          </a:p>
          <a:p>
            <a:r>
              <a:t>2. Explain Abstraction with real-time example</a:t>
            </a:r>
          </a:p>
          <a:p>
            <a:r>
              <a:t>3. Differentiate Encapsulation and Abstraction</a:t>
            </a:r>
          </a:p>
          <a:p>
            <a:r>
              <a:t>4. Write a C++ program for Encapsulation</a:t>
            </a:r>
          </a:p>
          <a:p>
            <a:r>
              <a:t>5. Explain Abstraction using abstract class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MCQs –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Encapsulation is achieved using:</a:t>
            </a:r>
          </a:p>
          <a:p>
            <a:r>
              <a:t>a) Classes  b) Loops  c) Arrays  d) Pointers</a:t>
            </a:r>
          </a:p>
          <a:p>
            <a:endParaRPr/>
          </a:p>
          <a:p>
            <a:r>
              <a:t>2. Abstraction mainly hides:</a:t>
            </a:r>
          </a:p>
          <a:p>
            <a:r>
              <a:t>a) Data  b) Implementation  c) Syntax  d) Variables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</TotalTime>
  <Words>694</Words>
  <Application>Microsoft Office PowerPoint</Application>
  <PresentationFormat>Widescreen</PresentationFormat>
  <Paragraphs>141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Calibri</vt:lpstr>
      <vt:lpstr>Calibri Light</vt:lpstr>
      <vt:lpstr>Raleway</vt:lpstr>
      <vt:lpstr>Wingdings</vt:lpstr>
      <vt:lpstr>Retrospect</vt:lpstr>
      <vt:lpstr>MODULE – I: Object Oriented Concepts in C++</vt:lpstr>
      <vt:lpstr>Session Outcomes</vt:lpstr>
      <vt:lpstr>Encapsulation</vt:lpstr>
      <vt:lpstr>Encapsulation – Real World Analogy</vt:lpstr>
      <vt:lpstr>Encapsulation Diagram</vt:lpstr>
      <vt:lpstr>Encapsulation – Syntax</vt:lpstr>
      <vt:lpstr>Encapsulation – Example Program</vt:lpstr>
      <vt:lpstr>Encapsulation – Program Explanation</vt:lpstr>
      <vt:lpstr>Encapsulation – Advantages</vt:lpstr>
      <vt:lpstr>Abstraction</vt:lpstr>
      <vt:lpstr>Abstraction – Real World Analogy</vt:lpstr>
      <vt:lpstr>Abstraction Diagram</vt:lpstr>
      <vt:lpstr>Abstraction Using Class – Example</vt:lpstr>
      <vt:lpstr>Abstraction Using Abstract Class (Pure Virtual Function)</vt:lpstr>
      <vt:lpstr>Encapsulation vs Abstraction</vt:lpstr>
      <vt:lpstr>Important Exam Questions</vt:lpstr>
      <vt:lpstr>MCQs –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2</cp:revision>
  <dcterms:created xsi:type="dcterms:W3CDTF">2013-01-27T09:14:16Z</dcterms:created>
  <dcterms:modified xsi:type="dcterms:W3CDTF">2026-02-16T04:42:29Z</dcterms:modified>
  <cp:category/>
</cp:coreProperties>
</file>