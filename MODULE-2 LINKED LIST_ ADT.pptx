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149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11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952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17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272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6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29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58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2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29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204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38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BD582C">
                    <a:lumMod val="75000"/>
                  </a:srgbClr>
                </a:solidFill>
                <a:latin typeface="Calibri Light" panose="020F0302020204030204"/>
              </a:rPr>
              <a:t>MODULE-</a:t>
            </a:r>
            <a:r>
              <a:rPr lang="en-US" sz="4000" b="1" dirty="0">
                <a:solidFill>
                  <a:srgbClr val="BD582C">
                    <a:lumMod val="75000"/>
                  </a:srgbClr>
                </a:solidFill>
                <a:latin typeface="Calibri Light" panose="020F0302020204030204"/>
              </a:rPr>
              <a:t>2</a:t>
            </a:r>
            <a:r>
              <a:rPr sz="4000" b="1" dirty="0">
                <a:solidFill>
                  <a:srgbClr val="BD582C">
                    <a:lumMod val="75000"/>
                  </a:srgbClr>
                </a:solidFill>
                <a:latin typeface="Calibri Light" panose="020F0302020204030204"/>
              </a:rPr>
              <a:t> </a:t>
            </a:r>
            <a:r>
              <a:rPr lang="en-US" sz="4000" b="1" dirty="0">
                <a:solidFill>
                  <a:srgbClr val="BD582C">
                    <a:lumMod val="75000"/>
                  </a:srgbClr>
                </a:solidFill>
                <a:latin typeface="Calibri Light" panose="020F0302020204030204"/>
              </a:rPr>
              <a:t>LINKED LIST</a:t>
            </a:r>
            <a:endParaRPr sz="4000" b="1" dirty="0">
              <a:solidFill>
                <a:srgbClr val="BD582C">
                  <a:lumMod val="75000"/>
                </a:srgbClr>
              </a:solidFill>
              <a:latin typeface="Calibri Light" panose="020F030202020403020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>
                <a:solidFill>
                  <a:schemeClr val="bg2">
                    <a:lumMod val="25000"/>
                  </a:schemeClr>
                </a:solidFill>
              </a:rPr>
              <a:t>Abstract Data Type (ADT) in C++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19294E-9527-338D-1936-9803B90644EA}"/>
              </a:ext>
            </a:extLst>
          </p:cNvPr>
          <p:cNvSpPr txBox="1"/>
          <p:nvPr/>
        </p:nvSpPr>
        <p:spPr>
          <a:xfrm>
            <a:off x="8986101" y="5138259"/>
            <a:ext cx="304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4A7489-F9FD-0E47-6090-8F1AD6E98DB1}"/>
              </a:ext>
            </a:extLst>
          </p:cNvPr>
          <p:cNvGrpSpPr/>
          <p:nvPr/>
        </p:nvGrpSpPr>
        <p:grpSpPr>
          <a:xfrm>
            <a:off x="1036320" y="870915"/>
            <a:ext cx="10362571" cy="1806297"/>
            <a:chOff x="0" y="0"/>
            <a:chExt cx="6381539" cy="967536"/>
          </a:xfrm>
        </p:grpSpPr>
        <p:pic>
          <p:nvPicPr>
            <p:cNvPr id="6" name="Picture 5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585549C7-05EF-AAFB-3993-B75501FDC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C96FCC0-60AD-FA89-1A21-EACD7CA85BC5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8" name="Picture 7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F8DCF8D0-3F87-D095-12EA-AB988DA4B8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1B16062-67FF-7EC0-DFA3-3C85A1F71ED4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1A6D970-7D45-2F22-6D91-4A3390C98DB0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Understand Abstract Data Type (ADT) deeply</a:t>
            </a:r>
          </a:p>
          <a:p>
            <a:r>
              <a:rPr dirty="0"/>
              <a:t>• Differentiate ADT and Data Structure</a:t>
            </a:r>
          </a:p>
          <a:p>
            <a:r>
              <a:rPr dirty="0"/>
              <a:t>• Implement ADT in C++ using classes</a:t>
            </a:r>
          </a:p>
          <a:p>
            <a:r>
              <a:t>• Apply ADT to Stack, Queue and Linked 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Abstract Data Type (ADT) – Definition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Abstract Data Type (ADT) is a logical model that</a:t>
            </a:r>
          </a:p>
          <a:p>
            <a:r>
              <a:t>defines the data and operations without revealing</a:t>
            </a:r>
          </a:p>
          <a:p>
            <a:r>
              <a:t>implementation details.</a:t>
            </a:r>
          </a:p>
          <a:p>
            <a:endParaRPr/>
          </a:p>
          <a:p>
            <a:r>
              <a:t>ADT = Data + Operations + Interface (Hidden Implementation)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Core Concept of ADT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 on WHAT operations can be performed</a:t>
            </a:r>
          </a:p>
          <a:p>
            <a:r>
              <a:t>• Not HOW they are implemented</a:t>
            </a:r>
          </a:p>
          <a:p>
            <a:r>
              <a:t>• Provides abstraction and data hiding</a:t>
            </a:r>
          </a:p>
          <a:p>
            <a:r>
              <a:t>• Implementation independent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ADT Conceptual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/ Program</a:t>
            </a:r>
          </a:p>
          <a:p>
            <a:r>
              <a:t>        ↓</a:t>
            </a:r>
          </a:p>
          <a:p>
            <a:r>
              <a:t>   ADT Interface (push, pop, insert)</a:t>
            </a:r>
          </a:p>
          <a:p>
            <a:r>
              <a:t>        ↓</a:t>
            </a:r>
          </a:p>
          <a:p>
            <a:r>
              <a:t> Internal Implementation (Array / Linked List)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ADT vs Data Structure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ADT:</a:t>
            </a:r>
          </a:p>
          <a:p>
            <a:r>
              <a:t>• Logical concept</a:t>
            </a:r>
          </a:p>
          <a:p>
            <a:r>
              <a:t>• Defines operations</a:t>
            </a:r>
          </a:p>
          <a:p>
            <a:r>
              <a:t>• Implementation hidden</a:t>
            </a:r>
          </a:p>
          <a:p>
            <a:endParaRPr/>
          </a:p>
          <a:p>
            <a:r>
              <a:t>Data Structure:</a:t>
            </a:r>
          </a:p>
          <a:p>
            <a:r>
              <a:t>• Physical implementation</a:t>
            </a:r>
          </a:p>
          <a:p>
            <a:r>
              <a:t>• Memory representation</a:t>
            </a:r>
          </a:p>
          <a:p>
            <a:r>
              <a:t>• Implementation visible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Relationship Between ADT and OOP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ADT is implemented using OOP concepts:</a:t>
            </a:r>
          </a:p>
          <a:p>
            <a:r>
              <a:t>• Class → ADT container</a:t>
            </a:r>
          </a:p>
          <a:p>
            <a:r>
              <a:t>• Private data → Data hiding</a:t>
            </a:r>
          </a:p>
          <a:p>
            <a:r>
              <a:t>• Public functions → Operations</a:t>
            </a:r>
          </a:p>
          <a:p>
            <a:r>
              <a:t>• Encapsulation + Abstraction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General Syntax of ADT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ADT_Name {</a:t>
            </a:r>
          </a:p>
          <a:p>
            <a:r>
              <a:t>private:</a:t>
            </a:r>
          </a:p>
          <a:p>
            <a:r>
              <a:t>   // Data Members (Hidden)</a:t>
            </a:r>
          </a:p>
          <a:p>
            <a:r>
              <a:t>public:</a:t>
            </a:r>
          </a:p>
          <a:p>
            <a:r>
              <a:t>   // Operations (Interface)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Characteristics of a Good ADT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Well-defined operations</a:t>
            </a:r>
          </a:p>
          <a:p>
            <a:r>
              <a:t>• Data encapsulation</a:t>
            </a:r>
          </a:p>
          <a:p>
            <a:r>
              <a:t>• Implementation independence</a:t>
            </a:r>
          </a:p>
          <a:p>
            <a:r>
              <a:t>• Modularity</a:t>
            </a:r>
          </a:p>
          <a:p>
            <a:r>
              <a:t>• Reusability and scalability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Types of ADT in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1. Linear ADT</a:t>
            </a:r>
          </a:p>
          <a:p>
            <a:r>
              <a:t>   • List ADT</a:t>
            </a:r>
          </a:p>
          <a:p>
            <a:r>
              <a:t>   • Stack ADT</a:t>
            </a:r>
          </a:p>
          <a:p>
            <a:r>
              <a:t>   • Queue ADT</a:t>
            </a:r>
          </a:p>
          <a:p>
            <a:endParaRPr/>
          </a:p>
          <a:p>
            <a:r>
              <a:t>2. Non-Linear ADT</a:t>
            </a:r>
          </a:p>
          <a:p>
            <a:r>
              <a:t>   • Tree ADT</a:t>
            </a:r>
          </a:p>
          <a:p>
            <a:r>
              <a:t>   • Graph ADT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Example: Stack as an ADT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Logical Operations:</a:t>
            </a:r>
          </a:p>
          <a:p>
            <a:r>
              <a:t>• push()</a:t>
            </a:r>
          </a:p>
          <a:p>
            <a:r>
              <a:t>• pop()</a:t>
            </a:r>
          </a:p>
          <a:p>
            <a:r>
              <a:t>• peek()</a:t>
            </a:r>
          </a:p>
          <a:p>
            <a:r>
              <a:t>• isEmpty()</a:t>
            </a:r>
          </a:p>
          <a:p>
            <a:endParaRPr/>
          </a:p>
          <a:p>
            <a:r>
              <a:t>Implementation can be Array or Linked List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C++ Program: Stack ADT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#include&lt;iostream&gt;</a:t>
            </a:r>
          </a:p>
          <a:p>
            <a:r>
              <a:rPr dirty="0"/>
              <a:t>using namespace std;</a:t>
            </a:r>
          </a:p>
          <a:p>
            <a:r>
              <a:rPr dirty="0"/>
              <a:t>class StackADT {</a:t>
            </a:r>
          </a:p>
          <a:p>
            <a:r>
              <a:rPr dirty="0"/>
              <a:t>private:</a:t>
            </a:r>
          </a:p>
          <a:p>
            <a:r>
              <a:rPr dirty="0"/>
              <a:t> int </a:t>
            </a:r>
            <a:r>
              <a:rPr dirty="0" err="1"/>
              <a:t>arr</a:t>
            </a:r>
            <a:r>
              <a:rPr dirty="0"/>
              <a:t>[5];</a:t>
            </a:r>
          </a:p>
          <a:p>
            <a:r>
              <a:rPr dirty="0"/>
              <a:t> int top;</a:t>
            </a:r>
          </a:p>
          <a:p>
            <a:r>
              <a:rPr dirty="0"/>
              <a:t>public:</a:t>
            </a:r>
          </a:p>
          <a:p>
            <a:r>
              <a:rPr dirty="0"/>
              <a:t> StackADT(){ top=-1; }</a:t>
            </a:r>
          </a:p>
          <a:p>
            <a:r>
              <a:rPr dirty="0"/>
              <a:t> void push(int x){ </a:t>
            </a:r>
            <a:r>
              <a:rPr dirty="0" err="1"/>
              <a:t>arr</a:t>
            </a:r>
            <a:r>
              <a:rPr dirty="0"/>
              <a:t>[++top]=x; }</a:t>
            </a:r>
          </a:p>
          <a:p>
            <a:r>
              <a:rPr dirty="0"/>
              <a:t> void pop(){ top--; }</a:t>
            </a:r>
          </a:p>
          <a:p>
            <a:r>
              <a:rPr dirty="0"/>
              <a:t>};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Linked List as an ADT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Operations:</a:t>
            </a:r>
          </a:p>
          <a:p>
            <a:r>
              <a:t>• Insert</a:t>
            </a:r>
          </a:p>
          <a:p>
            <a:r>
              <a:t>• Delete</a:t>
            </a:r>
          </a:p>
          <a:p>
            <a:r>
              <a:t>• Traverse</a:t>
            </a:r>
          </a:p>
          <a:p>
            <a:r>
              <a:t>• Search</a:t>
            </a:r>
          </a:p>
          <a:p>
            <a:endParaRPr/>
          </a:p>
          <a:p>
            <a:r>
              <a:t>Uses dynamic memory and pointers internally.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Working Flow of ADT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Program → Calls ADT Functions →</a:t>
            </a:r>
          </a:p>
          <a:p>
            <a:r>
              <a:t>Class Methods Execute → Internal Data Modified → Output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Advantages of ADT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Security (Data Hiding)</a:t>
            </a:r>
          </a:p>
          <a:p>
            <a:r>
              <a:t>• Code Reusability</a:t>
            </a:r>
          </a:p>
          <a:p>
            <a:r>
              <a:t>• Easy Maintenance</a:t>
            </a:r>
          </a:p>
          <a:p>
            <a:r>
              <a:t>• Modular Programming</a:t>
            </a:r>
          </a:p>
          <a:p>
            <a:r>
              <a:t>• Scalable System Design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Limitations of ADT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Initial design complexity</a:t>
            </a:r>
          </a:p>
          <a:p>
            <a:r>
              <a:t>• Slight performance overhead</a:t>
            </a:r>
          </a:p>
          <a:p>
            <a:r>
              <a:t>• Requires strong class design knowledge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63527"/>
            <a:ext cx="10058400" cy="1450757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ADT and STL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STL Containers are real ADT implementations:</a:t>
            </a:r>
          </a:p>
          <a:p>
            <a:r>
              <a:rPr dirty="0"/>
              <a:t>• vector → Dynamic Array ADT</a:t>
            </a:r>
          </a:p>
          <a:p>
            <a:r>
              <a:rPr dirty="0"/>
              <a:t>• list → Linked List ADT</a:t>
            </a:r>
          </a:p>
          <a:p>
            <a:r>
              <a:rPr dirty="0"/>
              <a:t>• stack → Stack ADT</a:t>
            </a:r>
          </a:p>
          <a:p>
            <a:r>
              <a:rPr dirty="0"/>
              <a:t>• queue → Queue ADT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Important Exam Questions (5 &amp; 10 Marks)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 ADT with example</a:t>
            </a:r>
          </a:p>
          <a:p>
            <a:r>
              <a:t>2. ADT vs Data Structure</a:t>
            </a:r>
          </a:p>
          <a:p>
            <a:r>
              <a:t>3. Explain implementation of ADT in C++</a:t>
            </a:r>
          </a:p>
          <a:p>
            <a:r>
              <a:t>4. Applications of ADT in Data Structures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Viva Questions (Deep)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Why ADT is better than normal DS?</a:t>
            </a:r>
          </a:p>
          <a:p>
            <a:r>
              <a:t>• Can one ADT have multiple implementations?</a:t>
            </a:r>
          </a:p>
          <a:p>
            <a:r>
              <a:t>• Is STL an example of ADT?</a:t>
            </a:r>
          </a:p>
          <a:p>
            <a:r>
              <a:t>• How does ADT support encapsulation?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MCQs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ADT focuses on:</a:t>
            </a:r>
          </a:p>
          <a:p>
            <a:r>
              <a:t>a) Implementation  b) Interface  c) Memory  d) Syntax</a:t>
            </a:r>
          </a:p>
          <a:p>
            <a:endParaRPr/>
          </a:p>
          <a:p>
            <a:r>
              <a:t>2. ADT provides:</a:t>
            </a:r>
          </a:p>
          <a:p>
            <a:r>
              <a:t>a) Data Hiding  b) Only Storage  c) Compilation  d) Debugging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</TotalTime>
  <Words>654</Words>
  <Application>Microsoft Office PowerPoint</Application>
  <PresentationFormat>Widescreen</PresentationFormat>
  <Paragraphs>131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Calibri</vt:lpstr>
      <vt:lpstr>Calibri Light</vt:lpstr>
      <vt:lpstr>Raleway</vt:lpstr>
      <vt:lpstr>Retrospect</vt:lpstr>
      <vt:lpstr>MODULE-2 LINKED LIST</vt:lpstr>
      <vt:lpstr>Session Outcomes</vt:lpstr>
      <vt:lpstr>Abstract Data Type (ADT) – Definition</vt:lpstr>
      <vt:lpstr>Core Concept of ADT</vt:lpstr>
      <vt:lpstr>ADT Conceptual Diagram</vt:lpstr>
      <vt:lpstr>ADT vs Data Structure </vt:lpstr>
      <vt:lpstr>Relationship Between ADT and OOP in C++</vt:lpstr>
      <vt:lpstr>General Syntax of ADT in C++</vt:lpstr>
      <vt:lpstr>Characteristics of a Good ADT</vt:lpstr>
      <vt:lpstr>Types of ADT in Data Structures</vt:lpstr>
      <vt:lpstr>Example: Stack as an ADT</vt:lpstr>
      <vt:lpstr>C++ Program: Stack ADT Implementation</vt:lpstr>
      <vt:lpstr>Linked List as an ADT</vt:lpstr>
      <vt:lpstr>Working Flow of ADT </vt:lpstr>
      <vt:lpstr>Advantages of ADT</vt:lpstr>
      <vt:lpstr>Limitations of ADT</vt:lpstr>
      <vt:lpstr>ADT and STL</vt:lpstr>
      <vt:lpstr>Important Exam Questions (5 &amp; 10 Marks)</vt:lpstr>
      <vt:lpstr>Viva Questions (Deep)</vt:lpstr>
      <vt:lpstr>MCQs –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3</cp:revision>
  <dcterms:created xsi:type="dcterms:W3CDTF">2013-01-27T09:14:16Z</dcterms:created>
  <dcterms:modified xsi:type="dcterms:W3CDTF">2026-02-25T05:27:42Z</dcterms:modified>
  <cp:category/>
</cp:coreProperties>
</file>