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81" d="100"/>
          <a:sy n="81" d="100"/>
        </p:scale>
        <p:origin x="725" y="62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97280" y="758952"/>
            <a:ext cx="10058400" cy="3566160"/>
          </a:xfrm>
        </p:spPr>
        <p:txBody>
          <a:bodyPr anchor="b">
            <a:normAutofit/>
          </a:bodyPr>
          <a:lstStyle>
            <a:lvl1pPr algn="l">
              <a:lnSpc>
                <a:spcPct val="85000"/>
              </a:lnSpc>
              <a:defRPr sz="8000" spc="-5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00051" y="4455620"/>
            <a:ext cx="10058400" cy="1143000"/>
          </a:xfrm>
        </p:spPr>
        <p:txBody>
          <a:bodyPr lIns="91440" rIns="91440">
            <a:normAutofit/>
          </a:bodyPr>
          <a:lstStyle>
            <a:lvl1pPr marL="0" indent="0" algn="l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 algn="ctr">
              <a:buNone/>
              <a:defRPr sz="24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7624236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marL="0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2375040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758952"/>
            <a:ext cx="10058400" cy="3566160"/>
          </a:xfrm>
        </p:spPr>
        <p:txBody>
          <a:bodyPr anchor="b" anchorCtr="0">
            <a:normAutofit/>
          </a:bodyPr>
          <a:lstStyle>
            <a:lvl1pPr>
              <a:lnSpc>
                <a:spcPct val="85000"/>
              </a:lnSpc>
              <a:defRPr sz="8000" b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4453128"/>
            <a:ext cx="10058400" cy="1143000"/>
          </a:xfrm>
        </p:spPr>
        <p:txBody>
          <a:bodyPr lIns="91440" rIns="91440" anchor="t" anchorCtr="0">
            <a:normAutofit/>
          </a:bodyPr>
          <a:lstStyle>
            <a:lvl1pPr marL="0" indent="0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20750478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97279" y="1845734"/>
            <a:ext cx="4937760" cy="40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17920" y="1845735"/>
            <a:ext cx="4937760" cy="40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655115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97280" y="2582334"/>
            <a:ext cx="4937760" cy="3378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1792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17920" y="2582334"/>
            <a:ext cx="4937760" cy="3378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2/18/2026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0465906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2/18/2026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0263521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" name="Rectangle 5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2/18/2026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903469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16" y="0"/>
            <a:ext cx="4050791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4040071" y="0"/>
            <a:ext cx="64008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94359"/>
            <a:ext cx="3200400" cy="2286000"/>
          </a:xfrm>
        </p:spPr>
        <p:txBody>
          <a:bodyPr anchor="b">
            <a:norm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00600" y="731520"/>
            <a:ext cx="6492240" cy="52578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2926080"/>
            <a:ext cx="3200400" cy="3379124"/>
          </a:xfrm>
        </p:spPr>
        <p:txBody>
          <a:bodyPr lIns="91440" rIns="91440">
            <a:normAutofit/>
          </a:bodyPr>
          <a:lstStyle>
            <a:lvl1pPr marL="0" indent="0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65512" y="6459785"/>
            <a:ext cx="2618510" cy="365125"/>
          </a:xfrm>
        </p:spPr>
        <p:txBody>
          <a:bodyPr/>
          <a:lstStyle>
            <a:lvl1pPr algn="l">
              <a:defRPr/>
            </a:lvl1pPr>
          </a:lstStyle>
          <a:p>
            <a:fld id="{5BCAD085-E8A6-8845-BD4E-CB4CCA059FC4}" type="datetimeFigureOut">
              <a:rPr lang="en-US" smtClean="0"/>
              <a:t>2/18/2026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800600" y="6459785"/>
            <a:ext cx="4648200" cy="365125"/>
          </a:xfrm>
        </p:spPr>
        <p:txBody>
          <a:bodyPr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4523777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4953000"/>
            <a:ext cx="12188825" cy="1905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5" y="491507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5074920"/>
            <a:ext cx="10113264" cy="822960"/>
          </a:xfrm>
        </p:spPr>
        <p:txBody>
          <a:bodyPr lIns="91440" tIns="0" rIns="91440" bIns="0" anchor="b">
            <a:no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5" y="0"/>
            <a:ext cx="12191985" cy="4915076"/>
          </a:xfrm>
          <a:blipFill>
            <a:blip r:embed="rId2"/>
            <a:stretch>
              <a:fillRect/>
            </a:stretch>
          </a:blipFill>
        </p:spPr>
        <p:txBody>
          <a:bodyPr lIns="457200" tIns="457200" anchor="t"/>
          <a:lstStyle>
            <a:lvl1pPr marL="0" indent="0">
              <a:buNone/>
              <a:defRPr sz="3200">
                <a:solidFill>
                  <a:schemeClr val="bg1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97280" y="5907023"/>
            <a:ext cx="10113264" cy="594360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6988578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lIns="45720" tIns="0" rIns="4572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8701443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414778"/>
            <a:ext cx="2628900" cy="5757421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414778"/>
            <a:ext cx="7734300" cy="5757422"/>
          </a:xfrm>
        </p:spPr>
        <p:txBody>
          <a:bodyPr vert="eaVert" lIns="45720" tIns="0" rIns="4572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8961331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" y="6400800"/>
            <a:ext cx="12192000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0" y="6334316"/>
            <a:ext cx="12192001" cy="659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5734"/>
            <a:ext cx="10058400" cy="4023360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rgbClr val="FFFFFF"/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2/18/2026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 cap="all" baseline="0">
                <a:solidFill>
                  <a:srgbClr val="FFFFFF"/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rgbClr val="FFFFFF"/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10" name="Straight Connector 9"/>
          <p:cNvCxnSpPr/>
          <p:nvPr/>
        </p:nvCxnSpPr>
        <p:spPr>
          <a:xfrm>
            <a:off x="1193532" y="1737845"/>
            <a:ext cx="996696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6017014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4800" kern="1200" spc="-50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Calibri" panose="020F0502020204030204" pitchFamily="34" charset="0"/>
        <a:buChar char=" "/>
        <a:defRPr sz="20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38404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56692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74980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93268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1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3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5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7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57088" y="2827269"/>
            <a:ext cx="10363200" cy="1470025"/>
          </a:xfrm>
        </p:spPr>
        <p:txBody>
          <a:bodyPr>
            <a:normAutofit fontScale="90000"/>
          </a:bodyPr>
          <a:lstStyle/>
          <a:p>
            <a:br>
              <a:rPr lang="en-US" dirty="0"/>
            </a:br>
            <a:r>
              <a:rPr sz="4400" b="1" dirty="0">
                <a:solidFill>
                  <a:schemeClr val="accent2">
                    <a:lumMod val="75000"/>
                  </a:schemeClr>
                </a:solidFill>
              </a:rPr>
              <a:t>MODULE-1 INTRODUCTION TO C++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b="1" dirty="0">
                <a:solidFill>
                  <a:schemeClr val="bg2">
                    <a:lumMod val="25000"/>
                  </a:schemeClr>
                </a:solidFill>
              </a:rPr>
              <a:t>Topic: MAP in C++ (STL Container)</a:t>
            </a: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E99ABADA-1812-1ED8-20EB-6E08759C100D}"/>
              </a:ext>
            </a:extLst>
          </p:cNvPr>
          <p:cNvGrpSpPr/>
          <p:nvPr/>
        </p:nvGrpSpPr>
        <p:grpSpPr>
          <a:xfrm>
            <a:off x="1036320" y="889769"/>
            <a:ext cx="10362571" cy="1806297"/>
            <a:chOff x="0" y="0"/>
            <a:chExt cx="6381539" cy="967536"/>
          </a:xfrm>
        </p:grpSpPr>
        <p:pic>
          <p:nvPicPr>
            <p:cNvPr id="5" name="Picture 4" descr="A logo with text on it&#10;&#10;AI-generated content may be incorrect.">
              <a:extLst>
                <a:ext uri="{FF2B5EF4-FFF2-40B4-BE49-F238E27FC236}">
                  <a16:creationId xmlns:a16="http://schemas.microsoft.com/office/drawing/2014/main" id="{C1369EAD-C178-F540-172C-12D086D5E437}"/>
                </a:ext>
              </a:extLst>
            </p:cNvPr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40943"/>
              <a:ext cx="1130935" cy="863600"/>
            </a:xfrm>
            <a:prstGeom prst="rect">
              <a:avLst/>
            </a:prstGeom>
          </p:spPr>
        </p:pic>
        <p:grpSp>
          <p:nvGrpSpPr>
            <p:cNvPr id="6" name="Group 5">
              <a:extLst>
                <a:ext uri="{FF2B5EF4-FFF2-40B4-BE49-F238E27FC236}">
                  <a16:creationId xmlns:a16="http://schemas.microsoft.com/office/drawing/2014/main" id="{287738A9-8943-EA39-C49A-ED3C514DD7F6}"/>
                </a:ext>
              </a:extLst>
            </p:cNvPr>
            <p:cNvGrpSpPr/>
            <p:nvPr/>
          </p:nvGrpSpPr>
          <p:grpSpPr>
            <a:xfrm>
              <a:off x="1282889" y="0"/>
              <a:ext cx="5098650" cy="967536"/>
              <a:chOff x="1316693" y="0"/>
              <a:chExt cx="5098791" cy="967562"/>
            </a:xfrm>
          </p:grpSpPr>
          <p:pic>
            <p:nvPicPr>
              <p:cNvPr id="7" name="Picture 6" descr="A logo with a ribbon and a logo&#10;&#10;AI-generated content may be incorrect.">
                <a:extLst>
                  <a:ext uri="{FF2B5EF4-FFF2-40B4-BE49-F238E27FC236}">
                    <a16:creationId xmlns:a16="http://schemas.microsoft.com/office/drawing/2014/main" id="{6FE81355-39CA-B9E5-BD55-2AD0195EDB31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5151495" y="197986"/>
                <a:ext cx="1263989" cy="495069"/>
              </a:xfrm>
              <a:prstGeom prst="rect">
                <a:avLst/>
              </a:prstGeom>
            </p:spPr>
          </p:pic>
          <p:cxnSp>
            <p:nvCxnSpPr>
              <p:cNvPr id="8" name="Straight Connector 7">
                <a:extLst>
                  <a:ext uri="{FF2B5EF4-FFF2-40B4-BE49-F238E27FC236}">
                    <a16:creationId xmlns:a16="http://schemas.microsoft.com/office/drawing/2014/main" id="{42FFA759-7B7A-9B34-06C3-AFCF2957B20B}"/>
                  </a:ext>
                </a:extLst>
              </p:cNvPr>
              <p:cNvCxnSpPr/>
              <p:nvPr/>
            </p:nvCxnSpPr>
            <p:spPr>
              <a:xfrm>
                <a:off x="1316693" y="60198"/>
                <a:ext cx="0" cy="828022"/>
              </a:xfrm>
              <a:prstGeom prst="line">
                <a:avLst/>
              </a:prstGeom>
              <a:ln w="6350"/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sp>
            <p:nvSpPr>
              <p:cNvPr id="9" name="Rectangle 8">
                <a:extLst>
                  <a:ext uri="{FF2B5EF4-FFF2-40B4-BE49-F238E27FC236}">
                    <a16:creationId xmlns:a16="http://schemas.microsoft.com/office/drawing/2014/main" id="{1040E0EA-7400-367A-E2BF-ED6F7C71521F}"/>
                  </a:ext>
                </a:extLst>
              </p:cNvPr>
              <p:cNvSpPr/>
              <p:nvPr/>
            </p:nvSpPr>
            <p:spPr>
              <a:xfrm>
                <a:off x="1316693" y="0"/>
                <a:ext cx="3984582" cy="967562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>
                  <a:lnSpc>
                    <a:spcPct val="150000"/>
                  </a:lnSpc>
                  <a:spcAft>
                    <a:spcPts val="800"/>
                  </a:spcAft>
                  <a:buNone/>
                </a:pPr>
                <a:r>
                  <a:rPr lang="en-IN" sz="1600" kern="100" dirty="0">
                    <a:solidFill>
                      <a:srgbClr val="000000"/>
                    </a:solidFill>
                    <a:effectLst/>
                    <a:latin typeface="Raleway" pitchFamily="2" charset="0"/>
                    <a:ea typeface="Aptos" panose="020B0004020202020204" pitchFamily="34" charset="0"/>
                    <a:cs typeface="Times New Roman" panose="02020603050405020304" pitchFamily="18" charset="0"/>
                  </a:rPr>
                  <a:t>Autonomous Institute, Affiliated to </a:t>
                </a:r>
                <a:r>
                  <a:rPr lang="en-IN" sz="1600" b="1" kern="100" dirty="0">
                    <a:solidFill>
                      <a:srgbClr val="000000"/>
                    </a:solidFill>
                    <a:effectLst/>
                    <a:latin typeface="Raleway" pitchFamily="2" charset="0"/>
                    <a:ea typeface="Aptos" panose="020B0004020202020204" pitchFamily="34" charset="0"/>
                    <a:cs typeface="Times New Roman" panose="02020603050405020304" pitchFamily="18" charset="0"/>
                  </a:rPr>
                  <a:t>JNTUH,</a:t>
                </a:r>
                <a:endParaRPr lang="en-IN" sz="1600" kern="100" dirty="0">
                  <a:effectLst/>
                  <a:ea typeface="Aptos" panose="020B0004020202020204" pitchFamily="34" charset="0"/>
                  <a:cs typeface="Times New Roman" panose="02020603050405020304" pitchFamily="18" charset="0"/>
                </a:endParaRPr>
              </a:p>
              <a:p>
                <a:pPr>
                  <a:lnSpc>
                    <a:spcPct val="150000"/>
                  </a:lnSpc>
                  <a:spcAft>
                    <a:spcPts val="800"/>
                  </a:spcAft>
                  <a:buNone/>
                </a:pPr>
                <a:r>
                  <a:rPr lang="en-IN" sz="1600" kern="100" dirty="0">
                    <a:solidFill>
                      <a:srgbClr val="000000"/>
                    </a:solidFill>
                    <a:effectLst/>
                    <a:latin typeface="Raleway" pitchFamily="2" charset="0"/>
                    <a:ea typeface="Aptos" panose="020B0004020202020204" pitchFamily="34" charset="0"/>
                    <a:cs typeface="Times New Roman" panose="02020603050405020304" pitchFamily="18" charset="0"/>
                  </a:rPr>
                  <a:t>Approved by </a:t>
                </a:r>
                <a:r>
                  <a:rPr lang="en-IN" sz="1600" b="1" kern="100" dirty="0">
                    <a:solidFill>
                      <a:srgbClr val="000000"/>
                    </a:solidFill>
                    <a:effectLst/>
                    <a:latin typeface="Raleway" pitchFamily="2" charset="0"/>
                    <a:ea typeface="Aptos" panose="020B0004020202020204" pitchFamily="34" charset="0"/>
                    <a:cs typeface="Times New Roman" panose="02020603050405020304" pitchFamily="18" charset="0"/>
                  </a:rPr>
                  <a:t>AICTE, </a:t>
                </a:r>
                <a:r>
                  <a:rPr lang="en-IN" sz="1600" kern="100" dirty="0">
                    <a:solidFill>
                      <a:srgbClr val="000000"/>
                    </a:solidFill>
                    <a:effectLst/>
                    <a:latin typeface="Raleway" pitchFamily="2" charset="0"/>
                    <a:ea typeface="Aptos" panose="020B0004020202020204" pitchFamily="34" charset="0"/>
                    <a:cs typeface="Times New Roman" panose="02020603050405020304" pitchFamily="18" charset="0"/>
                  </a:rPr>
                  <a:t>Accredited by </a:t>
                </a:r>
                <a:r>
                  <a:rPr lang="en-IN" sz="1600" b="1" kern="100" dirty="0">
                    <a:solidFill>
                      <a:srgbClr val="000000"/>
                    </a:solidFill>
                    <a:effectLst/>
                    <a:latin typeface="Raleway" pitchFamily="2" charset="0"/>
                    <a:ea typeface="Aptos" panose="020B0004020202020204" pitchFamily="34" charset="0"/>
                    <a:cs typeface="Times New Roman" panose="02020603050405020304" pitchFamily="18" charset="0"/>
                  </a:rPr>
                  <a:t>NAAC </a:t>
                </a:r>
                <a:r>
                  <a:rPr lang="en-IN" sz="1600" kern="100" dirty="0">
                    <a:solidFill>
                      <a:srgbClr val="000000"/>
                    </a:solidFill>
                    <a:effectLst/>
                    <a:latin typeface="Raleway" pitchFamily="2" charset="0"/>
                    <a:ea typeface="Aptos" panose="020B0004020202020204" pitchFamily="34" charset="0"/>
                    <a:cs typeface="Times New Roman" panose="02020603050405020304" pitchFamily="18" charset="0"/>
                  </a:rPr>
                  <a:t>with </a:t>
                </a:r>
                <a:r>
                  <a:rPr lang="en-IN" sz="1600" b="1" kern="100" dirty="0">
                    <a:solidFill>
                      <a:srgbClr val="000000"/>
                    </a:solidFill>
                    <a:effectLst/>
                    <a:latin typeface="Raleway" pitchFamily="2" charset="0"/>
                    <a:ea typeface="Aptos" panose="020B0004020202020204" pitchFamily="34" charset="0"/>
                    <a:cs typeface="Times New Roman" panose="02020603050405020304" pitchFamily="18" charset="0"/>
                  </a:rPr>
                  <a:t>A</a:t>
                </a:r>
                <a:r>
                  <a:rPr lang="en-IN" sz="1600" kern="100" dirty="0">
                    <a:solidFill>
                      <a:srgbClr val="000000"/>
                    </a:solidFill>
                    <a:effectLst/>
                    <a:latin typeface="Raleway" pitchFamily="2" charset="0"/>
                    <a:ea typeface="Aptos" panose="020B0004020202020204" pitchFamily="34" charset="0"/>
                    <a:cs typeface="Times New Roman" panose="02020603050405020304" pitchFamily="18" charset="0"/>
                  </a:rPr>
                  <a:t>++ Grade</a:t>
                </a:r>
                <a:endParaRPr lang="en-IN" sz="1600" kern="100" dirty="0">
                  <a:effectLst/>
                  <a:ea typeface="Aptos" panose="020B0004020202020204" pitchFamily="34" charset="0"/>
                  <a:cs typeface="Times New Roman" panose="02020603050405020304" pitchFamily="18" charset="0"/>
                </a:endParaRPr>
              </a:p>
              <a:p>
                <a:pPr>
                  <a:lnSpc>
                    <a:spcPct val="150000"/>
                  </a:lnSpc>
                  <a:spcAft>
                    <a:spcPts val="800"/>
                  </a:spcAft>
                  <a:buNone/>
                </a:pPr>
                <a:r>
                  <a:rPr lang="en-IN" sz="1600" kern="100" dirty="0">
                    <a:solidFill>
                      <a:srgbClr val="000000"/>
                    </a:solidFill>
                    <a:effectLst/>
                    <a:latin typeface="Raleway" pitchFamily="2" charset="0"/>
                    <a:ea typeface="Aptos" panose="020B0004020202020204" pitchFamily="34" charset="0"/>
                    <a:cs typeface="Times New Roman" panose="02020603050405020304" pitchFamily="18" charset="0"/>
                  </a:rPr>
                  <a:t>Kacharam, Shamshabad, Hyderabad- 501 218,</a:t>
                </a:r>
                <a:r>
                  <a:rPr lang="en-IN" sz="1600" kern="100" dirty="0">
                    <a:ea typeface="Aptos" panose="020B0004020202020204" pitchFamily="34" charset="0"/>
                    <a:cs typeface="Times New Roman" panose="02020603050405020304" pitchFamily="18" charset="0"/>
                  </a:rPr>
                  <a:t> </a:t>
                </a:r>
                <a:r>
                  <a:rPr lang="en-IN" sz="1600" kern="100" dirty="0">
                    <a:solidFill>
                      <a:srgbClr val="000000"/>
                    </a:solidFill>
                    <a:effectLst/>
                    <a:latin typeface="Raleway" pitchFamily="2" charset="0"/>
                    <a:ea typeface="Aptos" panose="020B0004020202020204" pitchFamily="34" charset="0"/>
                    <a:cs typeface="Times New Roman" panose="02020603050405020304" pitchFamily="18" charset="0"/>
                  </a:rPr>
                  <a:t>Telangana, India.</a:t>
                </a:r>
                <a:endParaRPr lang="en-IN" sz="1600" kern="100" dirty="0">
                  <a:effectLst/>
                  <a:ea typeface="Aptos" panose="020B0004020202020204" pitchFamily="34" charset="0"/>
                  <a:cs typeface="Times New Roman" panose="02020603050405020304" pitchFamily="18" charset="0"/>
                </a:endParaRPr>
              </a:p>
            </p:txBody>
          </p:sp>
        </p:grpSp>
      </p:grpSp>
      <p:sp>
        <p:nvSpPr>
          <p:cNvPr id="10" name="TextBox 9">
            <a:extLst>
              <a:ext uri="{FF2B5EF4-FFF2-40B4-BE49-F238E27FC236}">
                <a16:creationId xmlns:a16="http://schemas.microsoft.com/office/drawing/2014/main" id="{314C3A01-70FF-BB90-49DA-D0ED90C878CF}"/>
              </a:ext>
            </a:extLst>
          </p:cNvPr>
          <p:cNvSpPr txBox="1"/>
          <p:nvPr/>
        </p:nvSpPr>
        <p:spPr>
          <a:xfrm>
            <a:off x="8986101" y="5128832"/>
            <a:ext cx="3047014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>
                <a:solidFill>
                  <a:schemeClr val="bg2">
                    <a:lumMod val="25000"/>
                  </a:schemeClr>
                </a:solidFill>
                <a:latin typeface="Aptos" panose="020B0004020202020204" pitchFamily="34" charset="0"/>
              </a:rPr>
              <a:t>Presented By, </a:t>
            </a:r>
          </a:p>
          <a:p>
            <a:r>
              <a:rPr lang="en-US" b="1" dirty="0">
                <a:solidFill>
                  <a:schemeClr val="bg2">
                    <a:lumMod val="25000"/>
                  </a:schemeClr>
                </a:solidFill>
                <a:latin typeface="Aptos" panose="020B0004020202020204" pitchFamily="34" charset="0"/>
              </a:rPr>
              <a:t>Mr. Ganesh Deshmukh,</a:t>
            </a:r>
          </a:p>
          <a:p>
            <a:r>
              <a:rPr lang="en-US" b="1" dirty="0">
                <a:solidFill>
                  <a:schemeClr val="bg2">
                    <a:lumMod val="25000"/>
                  </a:schemeClr>
                </a:solidFill>
                <a:latin typeface="Aptos" panose="020B0004020202020204" pitchFamily="34" charset="0"/>
              </a:rPr>
              <a:t>Assistant Professor, CSE</a:t>
            </a:r>
            <a:endParaRPr lang="en-IN" b="1" dirty="0">
              <a:solidFill>
                <a:schemeClr val="bg2">
                  <a:lumMod val="25000"/>
                </a:schemeClr>
              </a:solidFill>
              <a:latin typeface="Aptos" panose="020B0004020202020204" pitchFamily="34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sz="2800" b="1" dirty="0">
                <a:solidFill>
                  <a:srgbClr val="0070C0"/>
                </a:solidFill>
                <a:latin typeface="Aptos" panose="020B0004020202020204" pitchFamily="34" charset="0"/>
              </a:rPr>
              <a:t>Session Outcomes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 typeface="Wingdings" panose="05000000000000000000" pitchFamily="2" charset="2"/>
              <a:buChar char="Ø"/>
            </a:pPr>
            <a:r>
              <a:rPr dirty="0"/>
              <a:t>Define map and explain its role as an associative container in STL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dirty="0"/>
              <a:t>Store and retrieve data using key-value pairs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dirty="0"/>
              <a:t>Perform insertion, deletion, searching and traversal operations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dirty="0"/>
              <a:t>Compare map with vector and list containers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sz="2800" b="1" dirty="0">
                <a:solidFill>
                  <a:srgbClr val="0070C0"/>
                </a:solidFill>
                <a:latin typeface="Aptos" panose="020B0004020202020204" pitchFamily="34" charset="0"/>
              </a:rPr>
              <a:t>What is a Map in C++?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Definition:</a:t>
            </a:r>
          </a:p>
          <a:p>
            <a:r>
              <a:t>A map is an associative container in C++ STL that stores elements</a:t>
            </a:r>
          </a:p>
          <a:p>
            <a:r>
              <a:t>in the form of key-value pairs and automatically sorts them by keys.</a:t>
            </a:r>
          </a:p>
          <a:p>
            <a:endParaRPr/>
          </a:p>
          <a:p>
            <a:r>
              <a:t>Simple Meaning:</a:t>
            </a:r>
          </a:p>
          <a:p>
            <a:r>
              <a:t>Map works like a dictionary (Key → Value).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sz="2800" b="1" dirty="0">
                <a:solidFill>
                  <a:srgbClr val="0070C0"/>
                </a:solidFill>
                <a:latin typeface="Aptos" panose="020B0004020202020204" pitchFamily="34" charset="0"/>
              </a:rPr>
              <a:t>Real World Analogy of Map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Dictionary: Word → Meaning</a:t>
            </a:r>
          </a:p>
          <a:p>
            <a:r>
              <a:t>• Student ID → Student Name</a:t>
            </a:r>
          </a:p>
          <a:p>
            <a:r>
              <a:t>• Roll Number → Marks</a:t>
            </a:r>
          </a:p>
          <a:p>
            <a:endParaRPr/>
          </a:p>
          <a:p>
            <a:r>
              <a:t>Each key is unique and maps to a value.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sz="2800" b="1" dirty="0">
                <a:solidFill>
                  <a:srgbClr val="0070C0"/>
                </a:solidFill>
                <a:latin typeface="Aptos" panose="020B0004020202020204" pitchFamily="34" charset="0"/>
              </a:rPr>
              <a:t>Key Characteristics of Map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Stores elements as key-value pairs</a:t>
            </a:r>
          </a:p>
          <a:p>
            <a:r>
              <a:t>• Keys are always unique</a:t>
            </a:r>
          </a:p>
          <a:p>
            <a:r>
              <a:t>• Automatically sorted by key</a:t>
            </a:r>
          </a:p>
          <a:p>
            <a:r>
              <a:t>• Dynamic size container</a:t>
            </a:r>
          </a:p>
          <a:p>
            <a:r>
              <a:t>• Implemented using Balanced Binary Search Tree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sz="2800" b="1" dirty="0">
                <a:solidFill>
                  <a:srgbClr val="0070C0"/>
                </a:solidFill>
                <a:latin typeface="Aptos" panose="020B0004020202020204" pitchFamily="34" charset="0"/>
              </a:rPr>
              <a:t>Syntax and Declaration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t>Header File:</a:t>
            </a:r>
          </a:p>
          <a:p>
            <a:r>
              <a:t>#include &lt;map&gt;</a:t>
            </a:r>
          </a:p>
          <a:p>
            <a:endParaRPr/>
          </a:p>
          <a:p>
            <a:r>
              <a:t>General Syntax:</a:t>
            </a:r>
          </a:p>
          <a:p>
            <a:r>
              <a:t>map&lt;key_datatype, value_datatype&gt; map_name;</a:t>
            </a:r>
          </a:p>
          <a:p>
            <a:endParaRPr/>
          </a:p>
          <a:p>
            <a:r>
              <a:t>Example:</a:t>
            </a:r>
          </a:p>
          <a:p>
            <a:r>
              <a:t>map&lt;int, string&gt; m;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sz="2800" b="1" dirty="0">
                <a:solidFill>
                  <a:srgbClr val="0070C0"/>
                </a:solidFill>
                <a:latin typeface="Aptos" panose="020B0004020202020204" pitchFamily="34" charset="0"/>
              </a:rPr>
              <a:t>Initialization Example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map&lt;int, string&gt; m = {</a:t>
            </a:r>
          </a:p>
          <a:p>
            <a:r>
              <a:t>   {1, "A"},</a:t>
            </a:r>
          </a:p>
          <a:p>
            <a:r>
              <a:t>   {2, "B"},</a:t>
            </a:r>
          </a:p>
          <a:p>
            <a:r>
              <a:t>   {3, "C"}</a:t>
            </a:r>
          </a:p>
          <a:p>
            <a:r>
              <a:t>};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sz="2800" b="1" dirty="0">
                <a:solidFill>
                  <a:srgbClr val="0070C0"/>
                </a:solidFill>
                <a:latin typeface="Aptos" panose="020B0004020202020204" pitchFamily="34" charset="0"/>
              </a:rPr>
              <a:t>Basic Map Program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dirty="0"/>
              <a:t>#include &lt;iostream&gt;</a:t>
            </a:r>
          </a:p>
          <a:p>
            <a:r>
              <a:rPr dirty="0"/>
              <a:t>#include &lt;map&gt;</a:t>
            </a:r>
          </a:p>
          <a:p>
            <a:r>
              <a:rPr dirty="0"/>
              <a:t>using namespace std;</a:t>
            </a:r>
          </a:p>
          <a:p>
            <a:r>
              <a:rPr dirty="0"/>
              <a:t>int main() {</a:t>
            </a:r>
          </a:p>
          <a:p>
            <a:r>
              <a:rPr dirty="0"/>
              <a:t>    map&lt;int, string&gt; m;</a:t>
            </a:r>
          </a:p>
          <a:p>
            <a:r>
              <a:rPr dirty="0"/>
              <a:t>    m[1] = "Alice";</a:t>
            </a:r>
          </a:p>
          <a:p>
            <a:r>
              <a:rPr dirty="0"/>
              <a:t>    m[2] = "Bob";</a:t>
            </a:r>
          </a:p>
          <a:p>
            <a:r>
              <a:rPr dirty="0"/>
              <a:t>    m[3] = "Charlie";</a:t>
            </a:r>
          </a:p>
          <a:p>
            <a:endParaRPr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D1427C5-97BF-CE5A-F853-659ECC442E31}"/>
              </a:ext>
            </a:extLst>
          </p:cNvPr>
          <p:cNvSpPr txBox="1"/>
          <p:nvPr/>
        </p:nvSpPr>
        <p:spPr>
          <a:xfrm>
            <a:off x="4715759" y="1954500"/>
            <a:ext cx="6094428" cy="1323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000" dirty="0"/>
              <a:t> for(auto x : m)</a:t>
            </a:r>
          </a:p>
          <a:p>
            <a:r>
              <a:rPr lang="en-IN" sz="2000" dirty="0"/>
              <a:t>        </a:t>
            </a:r>
            <a:r>
              <a:rPr lang="en-IN" sz="2000" dirty="0" err="1"/>
              <a:t>cout</a:t>
            </a:r>
            <a:r>
              <a:rPr lang="en-IN" sz="2000" dirty="0"/>
              <a:t> &lt;&lt; </a:t>
            </a:r>
            <a:r>
              <a:rPr lang="en-IN" sz="2000" dirty="0" err="1"/>
              <a:t>x.first</a:t>
            </a:r>
            <a:r>
              <a:rPr lang="en-IN" sz="2000" dirty="0"/>
              <a:t> &lt;&lt; " " &lt;&lt; </a:t>
            </a:r>
            <a:r>
              <a:rPr lang="en-IN" sz="2000" dirty="0" err="1"/>
              <a:t>x.second</a:t>
            </a:r>
            <a:r>
              <a:rPr lang="en-IN" sz="2000" dirty="0"/>
              <a:t> &lt;&lt; </a:t>
            </a:r>
            <a:r>
              <a:rPr lang="en-IN" sz="2000" dirty="0" err="1"/>
              <a:t>endl</a:t>
            </a:r>
            <a:r>
              <a:rPr lang="en-IN" sz="2000" dirty="0"/>
              <a:t>;</a:t>
            </a:r>
          </a:p>
          <a:p>
            <a:r>
              <a:rPr lang="en-IN" sz="2000" dirty="0"/>
              <a:t>    return 0;</a:t>
            </a:r>
          </a:p>
          <a:p>
            <a:r>
              <a:rPr lang="en-IN" sz="2000" dirty="0"/>
              <a:t>}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sz="2800" b="1" dirty="0">
                <a:solidFill>
                  <a:srgbClr val="0070C0"/>
                </a:solidFill>
                <a:latin typeface="Aptos" panose="020B0004020202020204" pitchFamily="34" charset="0"/>
              </a:rPr>
              <a:t>Output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1 Alice</a:t>
            </a:r>
          </a:p>
          <a:p>
            <a:r>
              <a:t>2 Bob</a:t>
            </a:r>
          </a:p>
          <a:p>
            <a:r>
              <a:t>3 Charlie</a:t>
            </a:r>
          </a:p>
          <a:p>
            <a:endParaRPr/>
          </a:p>
          <a:p>
            <a:r>
              <a:t>Note: Output is sorted based on keys.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sz="2800" b="1" dirty="0">
                <a:solidFill>
                  <a:srgbClr val="0070C0"/>
                </a:solidFill>
                <a:latin typeface="Aptos" panose="020B0004020202020204" pitchFamily="34" charset="0"/>
              </a:rPr>
              <a:t>Operations Supported on Map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 typeface="Wingdings" panose="05000000000000000000" pitchFamily="2" charset="2"/>
              <a:buChar char="v"/>
            </a:pPr>
            <a:r>
              <a:rPr lang="en-US" dirty="0"/>
              <a:t>   </a:t>
            </a:r>
            <a:r>
              <a:rPr dirty="0"/>
              <a:t>Insertion Operations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US" dirty="0"/>
              <a:t>   </a:t>
            </a:r>
            <a:r>
              <a:rPr dirty="0"/>
              <a:t>Deletion Operations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US" dirty="0"/>
              <a:t>   </a:t>
            </a:r>
            <a:r>
              <a:rPr dirty="0"/>
              <a:t>Accessing Elements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US" dirty="0"/>
              <a:t>   </a:t>
            </a:r>
            <a:r>
              <a:rPr dirty="0"/>
              <a:t>Traversal Operations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US" dirty="0"/>
              <a:t>    </a:t>
            </a:r>
            <a:r>
              <a:rPr dirty="0"/>
              <a:t>Searching Operations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US" dirty="0"/>
              <a:t>   </a:t>
            </a:r>
            <a:r>
              <a:rPr dirty="0"/>
              <a:t>Size &amp; Capacity Operations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sz="2800" b="1" dirty="0">
                <a:solidFill>
                  <a:srgbClr val="0070C0"/>
                </a:solidFill>
                <a:latin typeface="Aptos" panose="020B0004020202020204" pitchFamily="34" charset="0"/>
              </a:rPr>
              <a:t>Insertion Operations in Map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t>1. Using [] Operator:</a:t>
            </a:r>
          </a:p>
          <a:p>
            <a:r>
              <a:t>   m[1] = "A";</a:t>
            </a:r>
          </a:p>
          <a:p>
            <a:endParaRPr/>
          </a:p>
          <a:p>
            <a:r>
              <a:t>2. Using insert():</a:t>
            </a:r>
          </a:p>
          <a:p>
            <a:r>
              <a:t>   m.insert({2, "B"});</a:t>
            </a:r>
          </a:p>
          <a:p>
            <a:endParaRPr/>
          </a:p>
          <a:p>
            <a:r>
              <a:t>3. Using emplace():</a:t>
            </a:r>
          </a:p>
          <a:p>
            <a:r>
              <a:t>   m.emplace(3, "C");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sz="2800" b="1" dirty="0">
                <a:solidFill>
                  <a:srgbClr val="0070C0"/>
                </a:solidFill>
                <a:latin typeface="Aptos" panose="020B0004020202020204" pitchFamily="34" charset="0"/>
              </a:rPr>
              <a:t>Deletion Operations in Map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1. erase(key) → Deletes element by key</a:t>
            </a:r>
          </a:p>
          <a:p>
            <a:r>
              <a:t>   Example: m.erase(2);</a:t>
            </a:r>
          </a:p>
          <a:p>
            <a:endParaRPr/>
          </a:p>
          <a:p>
            <a:r>
              <a:t>2. clear() → Deletes all elements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sz="2800" b="1" dirty="0">
                <a:solidFill>
                  <a:srgbClr val="0070C0"/>
                </a:solidFill>
                <a:latin typeface="Aptos" panose="020B0004020202020204" pitchFamily="34" charset="0"/>
              </a:rPr>
              <a:t>Accessing Elements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t>1. Using Key:</a:t>
            </a:r>
          </a:p>
          <a:p>
            <a:r>
              <a:t>   m[1]</a:t>
            </a:r>
          </a:p>
          <a:p>
            <a:endParaRPr/>
          </a:p>
          <a:p>
            <a:r>
              <a:t>2. Using at() function:</a:t>
            </a:r>
          </a:p>
          <a:p>
            <a:r>
              <a:t>   m.at(1)</a:t>
            </a:r>
          </a:p>
          <a:p>
            <a:endParaRPr/>
          </a:p>
          <a:p>
            <a:r>
              <a:t>3. Using iterator:</a:t>
            </a:r>
          </a:p>
          <a:p>
            <a:r>
              <a:t>   it-&gt;first (key), it-&gt;second (value)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sz="2800" b="1" dirty="0">
                <a:solidFill>
                  <a:srgbClr val="0070C0"/>
                </a:solidFill>
                <a:latin typeface="Aptos" panose="020B0004020202020204" pitchFamily="34" charset="0"/>
              </a:rPr>
              <a:t>Traversal of Map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Using Iterator:</a:t>
            </a:r>
          </a:p>
          <a:p>
            <a:r>
              <a:t>for(auto it = m.begin(); it != m.end(); it++)</a:t>
            </a:r>
          </a:p>
          <a:p>
            <a:r>
              <a:t>    cout &lt;&lt; it-&gt;first &lt;&lt; " " &lt;&lt; it-&gt;second;</a:t>
            </a:r>
          </a:p>
          <a:p>
            <a:endParaRPr/>
          </a:p>
          <a:p>
            <a:r>
              <a:t>Using Range-Based Loop:</a:t>
            </a:r>
          </a:p>
          <a:p>
            <a:r>
              <a:t>for(auto x : m)</a:t>
            </a:r>
          </a:p>
          <a:p>
            <a:r>
              <a:t>    cout &lt;&lt; x.first &lt;&lt; " " &lt;&lt; x.second;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sz="2800" b="1" dirty="0">
                <a:solidFill>
                  <a:srgbClr val="0070C0"/>
                </a:solidFill>
                <a:latin typeface="Aptos" panose="020B0004020202020204" pitchFamily="34" charset="0"/>
              </a:rPr>
              <a:t>Searching Operations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1. find(key):</a:t>
            </a:r>
          </a:p>
          <a:p>
            <a:r>
              <a:t>   auto it = m.find(2);</a:t>
            </a:r>
          </a:p>
          <a:p>
            <a:endParaRPr/>
          </a:p>
          <a:p>
            <a:r>
              <a:t>2. count(key):</a:t>
            </a:r>
          </a:p>
          <a:p>
            <a:r>
              <a:t>   m.count(2);</a:t>
            </a:r>
          </a:p>
          <a:p>
            <a:endParaRPr/>
          </a:p>
          <a:p>
            <a:r>
              <a:t>Returns iterator if key exists, otherwise m.end().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sz="2800" b="1" dirty="0">
                <a:solidFill>
                  <a:srgbClr val="0070C0"/>
                </a:solidFill>
                <a:latin typeface="Aptos" panose="020B0004020202020204" pitchFamily="34" charset="0"/>
              </a:rPr>
              <a:t>Size &amp; Capacity Operations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1. size() → Returns number of elements</a:t>
            </a:r>
          </a:p>
          <a:p>
            <a:r>
              <a:t>2. empty() → Checks if map is empty</a:t>
            </a:r>
          </a:p>
          <a:p>
            <a:r>
              <a:t>3. max_size() → Maximum possible size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sz="2800" b="1" dirty="0">
                <a:solidFill>
                  <a:srgbClr val="0070C0"/>
                </a:solidFill>
                <a:latin typeface="Aptos" panose="020B0004020202020204" pitchFamily="34" charset="0"/>
              </a:rPr>
              <a:t>Complete Map Operations Program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dirty="0"/>
              <a:t>#include &lt;iostream&gt;</a:t>
            </a:r>
          </a:p>
          <a:p>
            <a:r>
              <a:rPr dirty="0"/>
              <a:t>#include &lt;map&gt;</a:t>
            </a:r>
          </a:p>
          <a:p>
            <a:r>
              <a:rPr dirty="0"/>
              <a:t>using namespace std;</a:t>
            </a:r>
          </a:p>
          <a:p>
            <a:r>
              <a:rPr dirty="0"/>
              <a:t>int main() {</a:t>
            </a:r>
          </a:p>
          <a:p>
            <a:r>
              <a:rPr dirty="0"/>
              <a:t>    map&lt;int, string&gt; m;</a:t>
            </a:r>
          </a:p>
          <a:p>
            <a:r>
              <a:rPr dirty="0"/>
              <a:t>    m[1] = "A";</a:t>
            </a:r>
          </a:p>
          <a:p>
            <a:r>
              <a:rPr dirty="0"/>
              <a:t>    m[2] = "B";</a:t>
            </a:r>
          </a:p>
          <a:p>
            <a:r>
              <a:rPr dirty="0"/>
              <a:t>    </a:t>
            </a:r>
            <a:r>
              <a:rPr dirty="0" err="1"/>
              <a:t>m.insert</a:t>
            </a:r>
            <a:r>
              <a:rPr dirty="0"/>
              <a:t>({3, "C"});</a:t>
            </a:r>
          </a:p>
          <a:p>
            <a:r>
              <a:rPr dirty="0"/>
              <a:t>    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8D66331-8F87-A40C-5B15-B07F7985426A}"/>
              </a:ext>
            </a:extLst>
          </p:cNvPr>
          <p:cNvSpPr txBox="1"/>
          <p:nvPr/>
        </p:nvSpPr>
        <p:spPr>
          <a:xfrm>
            <a:off x="5253087" y="1845734"/>
            <a:ext cx="6094428" cy="16312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000" dirty="0" err="1"/>
              <a:t>m.erase</a:t>
            </a:r>
            <a:r>
              <a:rPr lang="en-IN" sz="2000" dirty="0"/>
              <a:t>(2);</a:t>
            </a:r>
          </a:p>
          <a:p>
            <a:r>
              <a:rPr lang="en-IN" sz="2000" dirty="0"/>
              <a:t>    for(auto x : m)</a:t>
            </a:r>
          </a:p>
          <a:p>
            <a:r>
              <a:rPr lang="en-IN" sz="2000" dirty="0"/>
              <a:t>        </a:t>
            </a:r>
            <a:r>
              <a:rPr lang="en-IN" sz="2000" dirty="0" err="1"/>
              <a:t>cout</a:t>
            </a:r>
            <a:r>
              <a:rPr lang="en-IN" sz="2000" dirty="0"/>
              <a:t> &lt;&lt; </a:t>
            </a:r>
            <a:r>
              <a:rPr lang="en-IN" sz="2000" dirty="0" err="1"/>
              <a:t>x.first</a:t>
            </a:r>
            <a:r>
              <a:rPr lang="en-IN" sz="2000" dirty="0"/>
              <a:t> &lt;&lt; " " &lt;&lt; </a:t>
            </a:r>
            <a:r>
              <a:rPr lang="en-IN" sz="2000" dirty="0" err="1"/>
              <a:t>x.second</a:t>
            </a:r>
            <a:r>
              <a:rPr lang="en-IN" sz="2000" dirty="0"/>
              <a:t> &lt;&lt; </a:t>
            </a:r>
            <a:r>
              <a:rPr lang="en-IN" sz="2000" dirty="0" err="1"/>
              <a:t>endl</a:t>
            </a:r>
            <a:r>
              <a:rPr lang="en-IN" sz="2000" dirty="0"/>
              <a:t>;</a:t>
            </a:r>
          </a:p>
          <a:p>
            <a:r>
              <a:rPr lang="en-IN" sz="2000" dirty="0"/>
              <a:t>    return 0;</a:t>
            </a:r>
          </a:p>
          <a:p>
            <a:r>
              <a:rPr lang="en-IN" sz="2000" dirty="0"/>
              <a:t>}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sz="2800" b="1" dirty="0">
                <a:solidFill>
                  <a:srgbClr val="0070C0"/>
                </a:solidFill>
                <a:latin typeface="Aptos" panose="020B0004020202020204" pitchFamily="34" charset="0"/>
              </a:rPr>
              <a:t>Map vs Vector vs List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dirty="0"/>
              <a:t>Map:</a:t>
            </a:r>
          </a:p>
          <a:p>
            <a:r>
              <a:rPr dirty="0"/>
              <a:t>• Key-Value pairs</a:t>
            </a:r>
          </a:p>
          <a:p>
            <a:r>
              <a:rPr dirty="0"/>
              <a:t>• Sorted order</a:t>
            </a:r>
          </a:p>
          <a:p>
            <a:endParaRPr dirty="0"/>
          </a:p>
          <a:p>
            <a:r>
              <a:rPr dirty="0"/>
              <a:t>Vector:</a:t>
            </a:r>
          </a:p>
          <a:p>
            <a:r>
              <a:rPr dirty="0"/>
              <a:t>• Dynamic array</a:t>
            </a:r>
          </a:p>
          <a:p>
            <a:r>
              <a:rPr dirty="0"/>
              <a:t>• Index based access</a:t>
            </a:r>
          </a:p>
          <a:p>
            <a:endParaRPr dirty="0"/>
          </a:p>
          <a:p>
            <a:r>
              <a:rPr dirty="0"/>
              <a:t>List:</a:t>
            </a:r>
          </a:p>
          <a:p>
            <a:r>
              <a:rPr dirty="0"/>
              <a:t>• Doubly linked list</a:t>
            </a:r>
          </a:p>
          <a:p>
            <a:r>
              <a:rPr dirty="0"/>
              <a:t>• Sequential access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sz="2800" b="1" dirty="0">
                <a:solidFill>
                  <a:srgbClr val="0070C0"/>
                </a:solidFill>
                <a:latin typeface="Aptos" panose="020B0004020202020204" pitchFamily="34" charset="0"/>
              </a:rPr>
              <a:t>Important Exam Questions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1. Define map in C++ with syntax and example</a:t>
            </a:r>
          </a:p>
          <a:p>
            <a:r>
              <a:t>2. Explain map operations in STL</a:t>
            </a:r>
          </a:p>
          <a:p>
            <a:r>
              <a:t>3. Differentiate map and unordered_map</a:t>
            </a:r>
          </a:p>
          <a:p>
            <a:r>
              <a:t>4. Write a program using map container</a:t>
            </a:r>
          </a:p>
          <a:p>
            <a:r>
              <a:t>5. Explain traversal of map using iterator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sz="2800" b="1" dirty="0">
                <a:solidFill>
                  <a:srgbClr val="0070C0"/>
                </a:solidFill>
                <a:latin typeface="Aptos" panose="020B0004020202020204" pitchFamily="34" charset="0"/>
              </a:rPr>
              <a:t>MCQs – Practice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1. Map stores elements in:</a:t>
            </a:r>
          </a:p>
          <a:p>
            <a:r>
              <a:t>a) Key-Value pairs  b) Array  c) Stack  d) Queue</a:t>
            </a:r>
          </a:p>
          <a:p>
            <a:endParaRPr/>
          </a:p>
          <a:p>
            <a:r>
              <a:t>2. Keys in map are:</a:t>
            </a:r>
          </a:p>
          <a:p>
            <a:r>
              <a:t>a) Duplicate  b) Unique  c) Random  d) Unordered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Retrospect">
  <a:themeElements>
    <a:clrScheme name="Retrospect">
      <a:dk1>
        <a:srgbClr val="000000"/>
      </a:dk1>
      <a:lt1>
        <a:sysClr val="window" lastClr="FFFFFF"/>
      </a:lt1>
      <a:dk2>
        <a:srgbClr val="637052"/>
      </a:dk2>
      <a:lt2>
        <a:srgbClr val="CCDDEA"/>
      </a:lt2>
      <a:accent1>
        <a:srgbClr val="E48312"/>
      </a:accent1>
      <a:accent2>
        <a:srgbClr val="BD582C"/>
      </a:accent2>
      <a:accent3>
        <a:srgbClr val="865640"/>
      </a:accent3>
      <a:accent4>
        <a:srgbClr val="9B8357"/>
      </a:accent4>
      <a:accent5>
        <a:srgbClr val="C2BC80"/>
      </a:accent5>
      <a:accent6>
        <a:srgbClr val="94A088"/>
      </a:accent6>
      <a:hlink>
        <a:srgbClr val="2998E3"/>
      </a:hlink>
      <a:folHlink>
        <a:srgbClr val="8C8C8C"/>
      </a:folHlink>
    </a:clrScheme>
    <a:fontScheme name="Retrospect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Retrospec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Retrospect" id="{5F128B03-DCCA-4EEB-AB3B-CF2899314A46}" vid="{3F1AAB62-24C6-49D2-8E01-B56FAC9A3DC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Retrospect</Template>
  <TotalTime>9</TotalTime>
  <Words>878</Words>
  <Application>Microsoft Office PowerPoint</Application>
  <PresentationFormat>Widescreen</PresentationFormat>
  <Paragraphs>155</Paragraphs>
  <Slides>20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6" baseType="lpstr">
      <vt:lpstr>Aptos</vt:lpstr>
      <vt:lpstr>Calibri</vt:lpstr>
      <vt:lpstr>Calibri Light</vt:lpstr>
      <vt:lpstr>Raleway</vt:lpstr>
      <vt:lpstr>Wingdings</vt:lpstr>
      <vt:lpstr>Retrospect</vt:lpstr>
      <vt:lpstr> MODULE-1 INTRODUCTION TO C++</vt:lpstr>
      <vt:lpstr>Session Outcomes</vt:lpstr>
      <vt:lpstr>What is a Map in C++?</vt:lpstr>
      <vt:lpstr>Real World Analogy of Map</vt:lpstr>
      <vt:lpstr>Key Characteristics of Map</vt:lpstr>
      <vt:lpstr>Syntax and Declaration</vt:lpstr>
      <vt:lpstr>Initialization Example</vt:lpstr>
      <vt:lpstr>Basic Map Program</vt:lpstr>
      <vt:lpstr>Output</vt:lpstr>
      <vt:lpstr>Operations Supported on Map</vt:lpstr>
      <vt:lpstr>Insertion Operations in Map</vt:lpstr>
      <vt:lpstr>Deletion Operations in Map</vt:lpstr>
      <vt:lpstr>Accessing Elements</vt:lpstr>
      <vt:lpstr>Traversal of Map</vt:lpstr>
      <vt:lpstr>Searching Operations</vt:lpstr>
      <vt:lpstr>Size &amp; Capacity Operations</vt:lpstr>
      <vt:lpstr>Complete Map Operations Program</vt:lpstr>
      <vt:lpstr>Map vs Vector vs List </vt:lpstr>
      <vt:lpstr>Important Exam Questions</vt:lpstr>
      <vt:lpstr>MCQs – Practice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hp</dc:creator>
  <cp:keywords/>
  <dc:description>generated using python-pptx</dc:description>
  <cp:lastModifiedBy>Ganesh Deshmukh</cp:lastModifiedBy>
  <cp:revision>3</cp:revision>
  <dcterms:created xsi:type="dcterms:W3CDTF">2013-01-27T09:14:16Z</dcterms:created>
  <dcterms:modified xsi:type="dcterms:W3CDTF">2026-02-18T07:53:36Z</dcterms:modified>
  <cp:category/>
</cp:coreProperties>
</file>