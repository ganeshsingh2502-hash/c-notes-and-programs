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1" d="100"/>
          <a:sy n="81" d="100"/>
        </p:scale>
        <p:origin x="725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7496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72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495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147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685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01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39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13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084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588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59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1078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BD582C">
                    <a:lumMod val="75000"/>
                  </a:srgbClr>
                </a:solidFill>
              </a:rPr>
              <a:t>MODULE-2 LINKED LIST</a:t>
            </a:r>
            <a:endParaRPr sz="4000" b="1" dirty="0">
              <a:solidFill>
                <a:srgbClr val="BD582C">
                  <a:lumMod val="75000"/>
                </a:srgbClr>
              </a:solidFill>
              <a:latin typeface="Calibri Light" panose="020F030202020403020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chemeClr val="bg2">
                    <a:lumMod val="25000"/>
                  </a:schemeClr>
                </a:solidFill>
              </a:rPr>
              <a:t>Introduction to Linked List | Applications | Arrays vs Linked List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4BDD3A-AFA0-4FEF-AA0F-37F73683436F}"/>
              </a:ext>
            </a:extLst>
          </p:cNvPr>
          <p:cNvSpPr txBox="1"/>
          <p:nvPr/>
        </p:nvSpPr>
        <p:spPr>
          <a:xfrm>
            <a:off x="8986101" y="5138259"/>
            <a:ext cx="30470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Presented By,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Mr. Ganesh Deshmukh,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Assistant Professor, CSE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236C5F4-AD98-DE34-1914-F5401A2CB65E}"/>
              </a:ext>
            </a:extLst>
          </p:cNvPr>
          <p:cNvGrpSpPr/>
          <p:nvPr/>
        </p:nvGrpSpPr>
        <p:grpSpPr>
          <a:xfrm>
            <a:off x="1036320" y="889769"/>
            <a:ext cx="10362571" cy="1806297"/>
            <a:chOff x="0" y="0"/>
            <a:chExt cx="6381539" cy="967536"/>
          </a:xfrm>
        </p:grpSpPr>
        <p:pic>
          <p:nvPicPr>
            <p:cNvPr id="6" name="Picture 5" descr="A logo with text on it&#10;&#10;AI-generated content may be incorrect.">
              <a:extLst>
                <a:ext uri="{FF2B5EF4-FFF2-40B4-BE49-F238E27FC236}">
                  <a16:creationId xmlns:a16="http://schemas.microsoft.com/office/drawing/2014/main" id="{E33950A8-C06D-E09E-D84E-11E00C5293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0943"/>
              <a:ext cx="1130935" cy="8636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8B3F304-8378-989B-0691-04E6C04676A0}"/>
                </a:ext>
              </a:extLst>
            </p:cNvPr>
            <p:cNvGrpSpPr/>
            <p:nvPr/>
          </p:nvGrpSpPr>
          <p:grpSpPr>
            <a:xfrm>
              <a:off x="1282889" y="0"/>
              <a:ext cx="5098650" cy="967536"/>
              <a:chOff x="1316693" y="0"/>
              <a:chExt cx="5098791" cy="967562"/>
            </a:xfrm>
          </p:grpSpPr>
          <p:pic>
            <p:nvPicPr>
              <p:cNvPr id="8" name="Picture 7" descr="A logo with a ribbon and a logo&#10;&#10;AI-generated content may be incorrect.">
                <a:extLst>
                  <a:ext uri="{FF2B5EF4-FFF2-40B4-BE49-F238E27FC236}">
                    <a16:creationId xmlns:a16="http://schemas.microsoft.com/office/drawing/2014/main" id="{6C578482-1F72-2E59-319F-0885E7FD46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51495" y="197986"/>
                <a:ext cx="1263989" cy="495069"/>
              </a:xfrm>
              <a:prstGeom prst="rect">
                <a:avLst/>
              </a:prstGeom>
            </p:spPr>
          </p:pic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E413CCE7-C35A-304D-425C-47E8527BEFEC}"/>
                  </a:ext>
                </a:extLst>
              </p:cNvPr>
              <p:cNvCxnSpPr/>
              <p:nvPr/>
            </p:nvCxnSpPr>
            <p:spPr>
              <a:xfrm>
                <a:off x="1316693" y="60198"/>
                <a:ext cx="0" cy="828022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4F9D3A6-E8F3-FF91-8E26-03FA3988997E}"/>
                  </a:ext>
                </a:extLst>
              </p:cNvPr>
              <p:cNvSpPr/>
              <p:nvPr/>
            </p:nvSpPr>
            <p:spPr>
              <a:xfrm>
                <a:off x="1316693" y="0"/>
                <a:ext cx="3984582" cy="967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Autonomous Institute, Affiliated to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JNTUH,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Approved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AICTE,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Accredited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NAAC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with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++ Grade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Kacharam, Shamshabad, Hyderabad- 501 218,</a:t>
                </a:r>
                <a:r>
                  <a:rPr lang="en-IN" sz="1600" kern="100" dirty="0"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Telangana, India.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solidFill>
                  <a:srgbClr val="0070C0"/>
                </a:solidFill>
                <a:latin typeface="Aptos" panose="020B0004020202020204" pitchFamily="34" charset="0"/>
              </a:rPr>
              <a:t>Session Outcomes</a:t>
            </a:r>
            <a:endParaRPr sz="2800" b="1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Understand the concept of Linked List</a:t>
            </a:r>
          </a:p>
          <a:p>
            <a:r>
              <a:t>• Identify types and structure of linked list</a:t>
            </a:r>
          </a:p>
          <a:p>
            <a:r>
              <a:t>• Explain real-world applications of linked list</a:t>
            </a:r>
          </a:p>
          <a:p>
            <a:r>
              <a:t>• Compare Arrays and Linked Lists (Exam Oriented)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Introduction to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Linked List is a linear dynamic data structure</a:t>
            </a:r>
          </a:p>
          <a:p>
            <a:r>
              <a:rPr dirty="0"/>
              <a:t>where elements (nodes) are stored in non-contiguous memory</a:t>
            </a:r>
          </a:p>
          <a:p>
            <a:r>
              <a:rPr dirty="0"/>
              <a:t>and connected using pointers.</a:t>
            </a:r>
          </a:p>
          <a:p>
            <a:endParaRPr sz="2800" b="1" spc="-50" dirty="0">
              <a:solidFill>
                <a:srgbClr val="0070C0"/>
              </a:solidFill>
              <a:latin typeface="Aptos" panose="020B0004020202020204" pitchFamily="34" charset="0"/>
              <a:ea typeface="+mj-ea"/>
              <a:cs typeface="+mj-cs"/>
            </a:endParaRPr>
          </a:p>
          <a:p>
            <a:r>
              <a:rPr dirty="0"/>
              <a:t>Each node contains:</a:t>
            </a:r>
          </a:p>
          <a:p>
            <a:r>
              <a:rPr dirty="0"/>
              <a:t>• Data</a:t>
            </a:r>
          </a:p>
          <a:p>
            <a:r>
              <a:rPr dirty="0"/>
              <a:t>• Address of next node (Pointer)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209" y="286603"/>
            <a:ext cx="10058400" cy="1450757"/>
          </a:xfrm>
        </p:spPr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Node Structure of Linked 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 Data | Next ] → [ Data | Next ] → [ Data | NULL ]</a:t>
            </a:r>
          </a:p>
          <a:p>
            <a:endParaRPr/>
          </a:p>
          <a:p>
            <a:r>
              <a:t>• Data field stores value</a:t>
            </a:r>
          </a:p>
          <a:p>
            <a:r>
              <a:t>• Next pointer stores address of next node</a:t>
            </a:r>
          </a:p>
          <a:p>
            <a:r>
              <a:t>• Last node points to NULL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Key Characteristics of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Dynamic size (can grow or shrink)</a:t>
            </a:r>
          </a:p>
          <a:p>
            <a:r>
              <a:t>• Non-contiguous memory allocation</a:t>
            </a:r>
          </a:p>
          <a:p>
            <a:r>
              <a:t>• Efficient insertion and deletion</a:t>
            </a:r>
          </a:p>
          <a:p>
            <a:r>
              <a:t>• Uses pointers for linking nodes</a:t>
            </a:r>
          </a:p>
          <a:p>
            <a:r>
              <a:t>• Sequential access (no direct indexing)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Types of Linked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Singly Linked List</a:t>
            </a:r>
          </a:p>
          <a:p>
            <a:r>
              <a:t>2. Doubly Linked List</a:t>
            </a:r>
          </a:p>
          <a:p>
            <a:r>
              <a:t>3. Circular Linked List</a:t>
            </a:r>
          </a:p>
          <a:p>
            <a:endParaRPr/>
          </a:p>
          <a:p>
            <a:r>
              <a:t>Each type differs based on pointer connections.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Working of Linked 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HEAD → Node1 → Node2 → Node3 → NULL</a:t>
            </a:r>
          </a:p>
          <a:p>
            <a:endParaRPr/>
          </a:p>
          <a:p>
            <a:r>
              <a:t>• Head stores address of first node</a:t>
            </a:r>
          </a:p>
          <a:p>
            <a:r>
              <a:t>• Traversal is done using next pointers</a:t>
            </a:r>
          </a:p>
          <a:p>
            <a:r>
              <a:t>• Nodes are created using dynamic memory (new)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Applications of Linked List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Implementation of Stack and Queue</a:t>
            </a:r>
          </a:p>
          <a:p>
            <a:r>
              <a:t>• Dynamic memory management</a:t>
            </a:r>
          </a:p>
          <a:p>
            <a:r>
              <a:t>• Polynomial manipulation</a:t>
            </a:r>
          </a:p>
          <a:p>
            <a:r>
              <a:t>• Graph adjacency list representation</a:t>
            </a:r>
          </a:p>
          <a:p>
            <a:r>
              <a:t>• Music playlist / navigation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Real World Applications of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Undo/Redo operations in software</a:t>
            </a:r>
          </a:p>
          <a:p>
            <a:r>
              <a:t>• Browser history navigation</a:t>
            </a:r>
          </a:p>
          <a:p>
            <a:r>
              <a:t>• Image viewer (next/previous)</a:t>
            </a:r>
          </a:p>
          <a:p>
            <a:r>
              <a:t>• Operating System memory allocation</a:t>
            </a:r>
          </a:p>
          <a:p>
            <a:r>
              <a:t>• Social media feeds (dynamic content)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Why Use Linked List Instead of Array?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When size of data is unknown</a:t>
            </a:r>
          </a:p>
          <a:p>
            <a:r>
              <a:t>• Frequent insertion and deletion required</a:t>
            </a:r>
          </a:p>
          <a:p>
            <a:r>
              <a:t>• Memory flexibility is needed</a:t>
            </a:r>
          </a:p>
          <a:p>
            <a:r>
              <a:t>• Avoid memory wastage of fixed arrays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Arrays vs Linked List (Conceptual Difference)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Array: Contiguous memory, fixed size, direct access</a:t>
            </a:r>
          </a:p>
          <a:p>
            <a:r>
              <a:t>Linked List: Non-contiguous memory, dynamic size,</a:t>
            </a:r>
          </a:p>
          <a:p>
            <a:r>
              <a:t>sequential access using pointers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Arrays vs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Memory:</a:t>
            </a:r>
          </a:p>
          <a:p>
            <a:r>
              <a:t>Array → Contiguous</a:t>
            </a:r>
          </a:p>
          <a:p>
            <a:r>
              <a:t>Linked List → Non-Contiguous</a:t>
            </a:r>
          </a:p>
          <a:p>
            <a:endParaRPr/>
          </a:p>
          <a:p>
            <a:r>
              <a:t>Size:</a:t>
            </a:r>
          </a:p>
          <a:p>
            <a:r>
              <a:t>Array → Fixed</a:t>
            </a:r>
          </a:p>
          <a:p>
            <a:r>
              <a:t>Linked List → Dynamic</a:t>
            </a:r>
          </a:p>
          <a:p>
            <a:endParaRPr/>
          </a:p>
          <a:p>
            <a:r>
              <a:t>Access:</a:t>
            </a:r>
          </a:p>
          <a:p>
            <a:r>
              <a:t>Array → Random Access O(1)</a:t>
            </a:r>
          </a:p>
          <a:p>
            <a:r>
              <a:t>Linked List → Sequential Access O(n)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Insertion: Array vs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Array:</a:t>
            </a:r>
          </a:p>
          <a:p>
            <a:r>
              <a:t>• Requires shifting elements</a:t>
            </a:r>
          </a:p>
          <a:p>
            <a:r>
              <a:t>• Time Complexity O(n)</a:t>
            </a:r>
          </a:p>
          <a:p>
            <a:endParaRPr/>
          </a:p>
          <a:p>
            <a:r>
              <a:t>Linked List:</a:t>
            </a:r>
          </a:p>
          <a:p>
            <a:r>
              <a:t>• Pointer adjustment only</a:t>
            </a:r>
          </a:p>
          <a:p>
            <a:r>
              <a:t>• Efficient insertion O(1) (at beginning)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Deletion: Array vs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Array:</a:t>
            </a:r>
          </a:p>
          <a:p>
            <a:r>
              <a:t>• Shifting required</a:t>
            </a:r>
          </a:p>
          <a:p>
            <a:r>
              <a:t>• Time Complexity O(n)</a:t>
            </a:r>
          </a:p>
          <a:p>
            <a:endParaRPr/>
          </a:p>
          <a:p>
            <a:r>
              <a:t>Linked List:</a:t>
            </a:r>
          </a:p>
          <a:p>
            <a:r>
              <a:t>• Easy deletion by updating pointers</a:t>
            </a:r>
          </a:p>
          <a:p>
            <a:r>
              <a:t>• No shifting required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Advantages of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Dynamic memory allocation</a:t>
            </a:r>
          </a:p>
          <a:p>
            <a:r>
              <a:t>• Efficient insertion and deletion</a:t>
            </a:r>
          </a:p>
          <a:p>
            <a:r>
              <a:t>• No memory wastage</a:t>
            </a:r>
          </a:p>
          <a:p>
            <a:r>
              <a:t>• Flexible data structure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Disadvantages of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Extra memory required for pointers</a:t>
            </a:r>
          </a:p>
          <a:p>
            <a:r>
              <a:t>• No direct/random access</a:t>
            </a:r>
          </a:p>
          <a:p>
            <a:r>
              <a:t>• Complex pointer management</a:t>
            </a:r>
          </a:p>
          <a:p>
            <a:r>
              <a:t>• Slower traversal compared to arrays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Important Exam Questions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Define Linked List with diagram</a:t>
            </a:r>
          </a:p>
          <a:p>
            <a:r>
              <a:t>2. Applications of Linked List</a:t>
            </a:r>
          </a:p>
          <a:p>
            <a:r>
              <a:t>3. Arrays vs Linked List comparison</a:t>
            </a:r>
          </a:p>
          <a:p>
            <a:r>
              <a:t>4. Advantages and disadvantages of Linked List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MCQs –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Linked List uses:</a:t>
            </a:r>
          </a:p>
          <a:p>
            <a:r>
              <a:t>a) Contiguous Memory b) Non-Contiguous Memory</a:t>
            </a:r>
          </a:p>
          <a:p>
            <a:endParaRPr/>
          </a:p>
          <a:p>
            <a:r>
              <a:t>2. Which is dynamic in size?</a:t>
            </a:r>
          </a:p>
          <a:p>
            <a:r>
              <a:t>a) Array b) Linked List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</TotalTime>
  <Words>623</Words>
  <Application>Microsoft Office PowerPoint</Application>
  <PresentationFormat>Widescreen</PresentationFormat>
  <Paragraphs>115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Calibri</vt:lpstr>
      <vt:lpstr>Calibri Light</vt:lpstr>
      <vt:lpstr>Raleway</vt:lpstr>
      <vt:lpstr>Retrospect</vt:lpstr>
      <vt:lpstr>MODULE-2 LINKED LIST</vt:lpstr>
      <vt:lpstr>Session Outcomes</vt:lpstr>
      <vt:lpstr>Introduction to Linked List</vt:lpstr>
      <vt:lpstr>Node Structure of Linked List </vt:lpstr>
      <vt:lpstr>Key Characteristics of Linked List</vt:lpstr>
      <vt:lpstr>Types of Linked Lists</vt:lpstr>
      <vt:lpstr>Working of Linked List </vt:lpstr>
      <vt:lpstr>Applications of Linked List </vt:lpstr>
      <vt:lpstr>Real World Applications of Linked List</vt:lpstr>
      <vt:lpstr>Why Use Linked List Instead of Array?</vt:lpstr>
      <vt:lpstr>Arrays vs Linked List (Conceptual Difference)</vt:lpstr>
      <vt:lpstr>Arrays vs Linked List</vt:lpstr>
      <vt:lpstr>Insertion: Array vs Linked List</vt:lpstr>
      <vt:lpstr>Deletion: Array vs Linked List</vt:lpstr>
      <vt:lpstr>Advantages of Linked List</vt:lpstr>
      <vt:lpstr>Disadvantages of Linked List</vt:lpstr>
      <vt:lpstr>Important Exam Questions</vt:lpstr>
      <vt:lpstr>MCQs – Practice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Ganesh Deshmukh</cp:lastModifiedBy>
  <cp:revision>2</cp:revision>
  <dcterms:created xsi:type="dcterms:W3CDTF">2013-01-27T09:14:16Z</dcterms:created>
  <dcterms:modified xsi:type="dcterms:W3CDTF">2026-02-25T05:11:07Z</dcterms:modified>
  <cp:category/>
</cp:coreProperties>
</file>