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A5E6-AD9F-4825-ABB0-2A9E541EC24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981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A5E6-AD9F-4825-ABB0-2A9E541EC24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219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A5E6-AD9F-4825-ABB0-2A9E541EC24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663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A5E6-AD9F-4825-ABB0-2A9E541EC24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25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A5E6-AD9F-4825-ABB0-2A9E541EC24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74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A5E6-AD9F-4825-ABB0-2A9E541EC24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168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A5E6-AD9F-4825-ABB0-2A9E541EC24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01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08A5E6-AD9F-4825-ABB0-2A9E541EC24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322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A5E6-AD9F-4825-ABB0-2A9E541EC24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28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A5E6-AD9F-4825-ABB0-2A9E541EC24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187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8A5E6-AD9F-4825-ABB0-2A9E541EC24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378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08A5E6-AD9F-4825-ABB0-2A9E541EC24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694B5B0-DDA5-46FA-9FEF-0EE9368118C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8246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39AD9-560C-4CB9-217E-D835F8F4E6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MODULE-1 INTRODUCTION TO C++</a:t>
            </a:r>
            <a:endParaRPr lang="en-IN"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03890-041E-0EF4-1D81-47571F122A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Topic: ACCESS SPECIFIERS</a:t>
            </a:r>
            <a:endParaRPr lang="en-IN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EB4BD-1D98-D859-20BB-BB9E99D85876}"/>
              </a:ext>
            </a:extLst>
          </p:cNvPr>
          <p:cNvSpPr txBox="1"/>
          <p:nvPr/>
        </p:nvSpPr>
        <p:spPr>
          <a:xfrm>
            <a:off x="8964890" y="4897637"/>
            <a:ext cx="27583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Presented By,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Mr. Ganesh Deshmukh,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Assistant Professor, CSE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478C96-A3C8-7CEF-CB10-C679DA509AAF}"/>
              </a:ext>
            </a:extLst>
          </p:cNvPr>
          <p:cNvGrpSpPr/>
          <p:nvPr/>
        </p:nvGrpSpPr>
        <p:grpSpPr>
          <a:xfrm>
            <a:off x="1036320" y="889769"/>
            <a:ext cx="10362571" cy="1806297"/>
            <a:chOff x="0" y="0"/>
            <a:chExt cx="6381539" cy="967536"/>
          </a:xfrm>
        </p:grpSpPr>
        <p:pic>
          <p:nvPicPr>
            <p:cNvPr id="6" name="Picture 5" descr="A logo with text on it&#10;&#10;AI-generated content may be incorrect.">
              <a:extLst>
                <a:ext uri="{FF2B5EF4-FFF2-40B4-BE49-F238E27FC236}">
                  <a16:creationId xmlns:a16="http://schemas.microsoft.com/office/drawing/2014/main" id="{6F3EAF10-9219-A28B-C114-764CB9FCC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0943"/>
              <a:ext cx="1130935" cy="8636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845916D-56E0-71D1-0EEA-5B7C91A7884A}"/>
                </a:ext>
              </a:extLst>
            </p:cNvPr>
            <p:cNvGrpSpPr/>
            <p:nvPr/>
          </p:nvGrpSpPr>
          <p:grpSpPr>
            <a:xfrm>
              <a:off x="1282889" y="0"/>
              <a:ext cx="5098650" cy="967536"/>
              <a:chOff x="1316693" y="0"/>
              <a:chExt cx="5098791" cy="967562"/>
            </a:xfrm>
          </p:grpSpPr>
          <p:pic>
            <p:nvPicPr>
              <p:cNvPr id="8" name="Picture 7" descr="A logo with a ribbon and a logo&#10;&#10;AI-generated content may be incorrect.">
                <a:extLst>
                  <a:ext uri="{FF2B5EF4-FFF2-40B4-BE49-F238E27FC236}">
                    <a16:creationId xmlns:a16="http://schemas.microsoft.com/office/drawing/2014/main" id="{D2CC05E7-F524-379D-23F1-E37D88438B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1495" y="197986"/>
                <a:ext cx="1263989" cy="495069"/>
              </a:xfrm>
              <a:prstGeom prst="rect">
                <a:avLst/>
              </a:prstGeom>
            </p:spPr>
          </p:pic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2C4CA0C8-26C3-842C-FFE3-219B2724E03E}"/>
                  </a:ext>
                </a:extLst>
              </p:cNvPr>
              <p:cNvCxnSpPr/>
              <p:nvPr/>
            </p:nvCxnSpPr>
            <p:spPr>
              <a:xfrm>
                <a:off x="1316693" y="60198"/>
                <a:ext cx="0" cy="828022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BB0E2DF-31BF-6670-3D72-7A968FF8871F}"/>
                  </a:ext>
                </a:extLst>
              </p:cNvPr>
              <p:cNvSpPr/>
              <p:nvPr/>
            </p:nvSpPr>
            <p:spPr>
              <a:xfrm>
                <a:off x="1316693" y="0"/>
                <a:ext cx="3984582" cy="967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Autonomous Institute, Affiliated to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JNTUH,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Approved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AICTE,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Accredited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NAAC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++ Grade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Kacharam, Shamshabad, Hyderabad- 501 218,</a:t>
                </a:r>
                <a:r>
                  <a:rPr lang="en-IN" sz="1600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Telangana, India.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0779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200AB-2732-E0CF-4ACE-A173559B8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598" y="239931"/>
            <a:ext cx="10058400" cy="1450757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ptos" panose="020B0004020202020204" pitchFamily="34" charset="0"/>
              </a:rPr>
              <a:t>Session outcomes</a:t>
            </a:r>
            <a:endParaRPr lang="en-IN" sz="3600" b="1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D6CCE-D480-8EF6-ABAB-7EF5845E7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IN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Define access specifiers</a:t>
            </a:r>
            <a:r>
              <a:rPr lang="en-IN" dirty="0"/>
              <a:t> and explain their role in achieving data security and encapsulation in C++ programs.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Identify and differentiate</a:t>
            </a:r>
            <a:r>
              <a:rPr lang="en-IN" dirty="0"/>
              <a:t> between public, private, and protected access specifiers with suitable examples.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Apply access specifiers</a:t>
            </a:r>
            <a:r>
              <a:rPr lang="en-IN" dirty="0"/>
              <a:t> appropriately while designing classes to control access to data members and member functions.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Demonstrate the use of access specifiers</a:t>
            </a:r>
            <a:r>
              <a:rPr lang="en-IN" dirty="0"/>
              <a:t> through simple C++ programs and interpret the access control behaviour during compilation and execution.</a:t>
            </a:r>
          </a:p>
        </p:txBody>
      </p:sp>
    </p:spTree>
    <p:extLst>
      <p:ext uri="{BB962C8B-B14F-4D97-AF65-F5344CB8AC3E}">
        <p14:creationId xmlns:p14="http://schemas.microsoft.com/office/powerpoint/2010/main" val="2429315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A36BC-8699-22B7-657A-558B27817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Aptos" panose="020B0004020202020204" pitchFamily="34" charset="0"/>
              </a:rPr>
              <a:t>What are Access Specifiers?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24079-93DD-EFB5-A907-40680156B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Aptos" panose="020B0004020202020204" pitchFamily="34" charset="0"/>
              </a:rPr>
              <a:t>Definition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Aptos" panose="020B0004020202020204" pitchFamily="34" charset="0"/>
              </a:rPr>
              <a:t>Access specifiers</a:t>
            </a:r>
            <a:r>
              <a:rPr lang="en-IN" dirty="0">
                <a:latin typeface="Aptos" panose="020B0004020202020204" pitchFamily="34" charset="0"/>
              </a:rPr>
              <a:t> define </a:t>
            </a:r>
            <a:r>
              <a:rPr lang="en-IN" b="1" dirty="0">
                <a:latin typeface="Aptos" panose="020B0004020202020204" pitchFamily="34" charset="0"/>
              </a:rPr>
              <a:t>how data members and member functions of a class can be accessed</a:t>
            </a:r>
            <a:r>
              <a:rPr lang="en-IN" dirty="0">
                <a:latin typeface="Aptos" panose="020B0004020202020204" pitchFamily="34" charset="0"/>
              </a:rPr>
              <a:t> from outside the class.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ptos" panose="020B0004020202020204" pitchFamily="34" charset="0"/>
              </a:rPr>
              <a:t>They are used to </a:t>
            </a:r>
            <a:r>
              <a:rPr lang="en-IN" b="1" dirty="0">
                <a:latin typeface="Aptos" panose="020B0004020202020204" pitchFamily="34" charset="0"/>
              </a:rPr>
              <a:t>control data security and encapsulation</a:t>
            </a:r>
            <a:r>
              <a:rPr lang="en-IN" dirty="0">
                <a:latin typeface="Aptos" panose="020B0004020202020204" pitchFamily="34" charset="0"/>
              </a:rPr>
              <a:t>.</a:t>
            </a:r>
            <a:endParaRPr lang="en-IN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452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E6AD-5547-0342-6FD0-1A36E33E6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  <a:latin typeface="Aptos" panose="020B0004020202020204" pitchFamily="34" charset="0"/>
              </a:rPr>
              <a:t>Types of Access Specifiers</a:t>
            </a:r>
            <a:endParaRPr lang="en-IN" sz="36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3D87B2-2AA2-B51D-416D-6D76577947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5147" y="1817982"/>
            <a:ext cx="3139674" cy="4022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6EDFAD-DE1A-8658-D998-2B908853E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102" y="1817982"/>
            <a:ext cx="3286064" cy="40227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C4937F-EC18-B933-37EE-1792A76303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783" y="1817983"/>
            <a:ext cx="3372150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18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8134A-0021-6214-C28E-427C652D8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Aptos" panose="020B0004020202020204" pitchFamily="34" charset="0"/>
              </a:rPr>
              <a:t>private Access Specifier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84708-C5BD-969B-C5D2-F8246B2E3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Members declared as private </a:t>
            </a:r>
            <a:r>
              <a:rPr lang="en-IN" b="1" dirty="0"/>
              <a:t>cannot be accessed outside the class.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Default access specifier in a class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Syntax: </a:t>
            </a:r>
          </a:p>
          <a:p>
            <a:pPr marL="1208560" lvl="6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546D73-581F-9ADF-ACD5-FBB6ACF82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637" y="3197468"/>
            <a:ext cx="3162741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456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3238A-0019-50D0-E448-7D8C720D6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D03B3-2467-BFE4-FD1B-144A66213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Aptos" panose="020B0004020202020204" pitchFamily="34" charset="0"/>
              </a:rPr>
              <a:t>private Access Specifier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5D5A2-F013-A73E-38C7-D24997152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Example Program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789F3F-8266-A394-F68E-F20EC1A02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597" y="2167120"/>
            <a:ext cx="3496163" cy="38103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9E7AFA-51FB-0D15-A3D8-F0FA36EA9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828" y="2167120"/>
            <a:ext cx="2771395" cy="20278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E23214-40E9-2BF8-FE95-BB0E5A0E7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173" y="2167120"/>
            <a:ext cx="2874547" cy="18300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EBFC7E-1DFE-D743-58F2-1705B3CCDC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180" y="4318525"/>
            <a:ext cx="6201640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708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51AF-9F23-34A6-FF0E-ECC18987D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ptos" panose="020B0004020202020204" pitchFamily="34" charset="0"/>
              </a:rPr>
              <a:t>public Access Specifier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B454E-CB12-B685-E5F4-3225546A4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Members declared as public </a:t>
            </a:r>
            <a:r>
              <a:rPr lang="en-IN" b="1" dirty="0"/>
              <a:t>can be accessed from anywhere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Real-World Analogy: </a:t>
            </a:r>
            <a:r>
              <a:rPr lang="en-IN" b="1" dirty="0"/>
              <a:t>College notice board</a:t>
            </a:r>
            <a:r>
              <a:rPr lang="en-IN" dirty="0"/>
              <a:t> → Everyone can see it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Syntax: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B30CE5-1917-B26B-2869-41380B9AB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524" y="3165420"/>
            <a:ext cx="3000794" cy="203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210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D66DF-E886-83A7-448E-2C23BE90B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021B9-65F7-C2E5-53C2-1199E8E7B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ptos" panose="020B0004020202020204" pitchFamily="34" charset="0"/>
              </a:rPr>
              <a:t>public Access Specifier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4A0C9-6016-B9C0-4EB2-3C1CD2B94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Example Program</a:t>
            </a: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9D423F-C2C8-C3BB-E081-86CFA02AC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869" y="2391909"/>
            <a:ext cx="3343742" cy="27340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068DE0-272A-2528-C4A1-2D49B6FCE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366" y="2295367"/>
            <a:ext cx="3353268" cy="25782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E10475-0A66-0DB1-09CF-8EC62CA29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869" y="5125966"/>
            <a:ext cx="6154009" cy="9716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451AA3-8E19-DDF3-A95E-59672093BF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634" y="2391909"/>
            <a:ext cx="3614945" cy="154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17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C447B-3BD5-457A-1B79-F1C9A706D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E6B63-6A97-6DEF-666B-657EA438C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ptos" panose="020B0004020202020204" pitchFamily="34" charset="0"/>
              </a:rPr>
              <a:t>protected Access Specifier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6B2D1-0E1A-9790-6537-C02D5DB23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Members declared as protected:</a:t>
            </a:r>
          </a:p>
          <a:p>
            <a:r>
              <a:rPr lang="en-IN" dirty="0"/>
              <a:t>❌ Not accessible outside the class</a:t>
            </a:r>
          </a:p>
          <a:p>
            <a:r>
              <a:rPr lang="en-IN" dirty="0"/>
              <a:t>✔ Accessible in </a:t>
            </a:r>
            <a:r>
              <a:rPr lang="en-IN" b="1" dirty="0"/>
              <a:t>derived (child) classes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Syntax: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EF8A19-5726-2676-8664-76B8F068F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13" y="3694515"/>
            <a:ext cx="3345605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992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6B018-BF7E-93EA-45AD-E585BF6C2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8EBFC-8CD2-EFCB-45C7-A22EAE088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ptos" panose="020B0004020202020204" pitchFamily="34" charset="0"/>
              </a:rPr>
              <a:t>protected Access Specifier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3F77D-374F-9298-4506-0143E83EE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Example Program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8F8E45-64DF-D667-EEB6-8539E05FA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58" y="2184855"/>
            <a:ext cx="4213128" cy="37926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DB2B12-94A8-2FA8-35E7-003F03AB6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244" y="1845734"/>
            <a:ext cx="3286584" cy="23434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42F1F9-20A5-EF8E-A659-570677BD2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008" y="4174021"/>
            <a:ext cx="4867954" cy="12384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D29CD4-D883-B969-FD5A-A70551E2D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9582" y="1978242"/>
            <a:ext cx="3486683" cy="145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321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BE77B-DD41-9317-0868-2E1F5866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Table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D4D8A2-629E-F925-517D-75991F556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047682"/>
            <a:ext cx="9840698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589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F51A9-46D8-F40A-F1F6-71323755B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US" sz="4800" dirty="0">
              <a:latin typeface="Aptos" panose="020B0004020202020204" pitchFamily="34" charset="0"/>
            </a:endParaRPr>
          </a:p>
          <a:p>
            <a:pPr algn="ctr"/>
            <a:endParaRPr lang="en-US" sz="4800" dirty="0">
              <a:latin typeface="Aptos" panose="020B0004020202020204" pitchFamily="34" charset="0"/>
            </a:endParaRPr>
          </a:p>
          <a:p>
            <a:pPr algn="ctr"/>
            <a:r>
              <a:rPr lang="en-US" sz="4800" dirty="0">
                <a:latin typeface="Aptos" panose="020B0004020202020204" pitchFamily="34" charset="0"/>
              </a:rPr>
              <a:t>Thank You</a:t>
            </a:r>
            <a:endParaRPr lang="en-IN" sz="4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2009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219</TotalTime>
  <Words>261</Words>
  <Application>Microsoft Office PowerPoint</Application>
  <PresentationFormat>Widescreen</PresentationFormat>
  <Paragraphs>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Calibri</vt:lpstr>
      <vt:lpstr>Calibri Light</vt:lpstr>
      <vt:lpstr>Raleway</vt:lpstr>
      <vt:lpstr>Wingdings</vt:lpstr>
      <vt:lpstr>Retrospect</vt:lpstr>
      <vt:lpstr>MODULE-1 INTRODUCTION TO C++</vt:lpstr>
      <vt:lpstr>Session outcomes</vt:lpstr>
      <vt:lpstr>What are Access Specifiers?</vt:lpstr>
      <vt:lpstr>Types of Access Specifiers</vt:lpstr>
      <vt:lpstr>private Access Specifier</vt:lpstr>
      <vt:lpstr>private Access Specifier</vt:lpstr>
      <vt:lpstr>public Access Specifier</vt:lpstr>
      <vt:lpstr>public Access Specifier</vt:lpstr>
      <vt:lpstr>protected Access Specifier</vt:lpstr>
      <vt:lpstr>protected Access Specifier</vt:lpstr>
      <vt:lpstr>Comparison Table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Ganesh Deshmukh</dc:creator>
  <cp:lastModifiedBy>Ganesh Deshmukh</cp:lastModifiedBy>
  <cp:revision>5</cp:revision>
  <dcterms:created xsi:type="dcterms:W3CDTF">2026-02-09T05:35:18Z</dcterms:created>
  <dcterms:modified xsi:type="dcterms:W3CDTF">2026-02-16T05:22:09Z</dcterms:modified>
</cp:coreProperties>
</file>