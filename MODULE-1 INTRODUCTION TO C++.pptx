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81" d="100"/>
          <a:sy n="81" d="100"/>
        </p:scale>
        <p:origin x="725" y="6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48064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71208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94671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48404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9521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98867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3962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31973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48934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66073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47480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42567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0" lang="en-IN" sz="4000" b="1" i="0" u="none" strike="noStrike" kern="1200" cap="none" spc="-50" normalizeH="0" baseline="0" noProof="0" dirty="0">
                <a:ln>
                  <a:noFill/>
                </a:ln>
                <a:solidFill>
                  <a:srgbClr val="BD582C">
                    <a:lumMod val="75000"/>
                  </a:srgbClr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MODULE-1 INTRODUCTION TO C</a:t>
            </a:r>
            <a:r>
              <a:rPr kumimoji="0" lang="en-IN" sz="2400" b="1" i="0" u="none" strike="noStrike" kern="1200" cap="all" spc="200" normalizeH="0" baseline="0" noProof="0" dirty="0">
                <a:ln>
                  <a:noFill/>
                </a:ln>
                <a:solidFill>
                  <a:srgbClr val="CCDDEA">
                    <a:lumMod val="25000"/>
                  </a:srgbClr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++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b="1" dirty="0">
                <a:solidFill>
                  <a:schemeClr val="bg2">
                    <a:lumMod val="25000"/>
                  </a:schemeClr>
                </a:solidFill>
              </a:rPr>
              <a:t>Concept | Features | Structure | OOP | MCQs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2C852B3-4D41-9638-FE66-C246DFF215C2}"/>
              </a:ext>
            </a:extLst>
          </p:cNvPr>
          <p:cNvGrpSpPr/>
          <p:nvPr/>
        </p:nvGrpSpPr>
        <p:grpSpPr>
          <a:xfrm>
            <a:off x="1036320" y="889769"/>
            <a:ext cx="10362571" cy="1806297"/>
            <a:chOff x="0" y="0"/>
            <a:chExt cx="6381539" cy="967536"/>
          </a:xfrm>
        </p:grpSpPr>
        <p:pic>
          <p:nvPicPr>
            <p:cNvPr id="5" name="Picture 4" descr="A logo with text on it&#10;&#10;AI-generated content may be incorrect.">
              <a:extLst>
                <a:ext uri="{FF2B5EF4-FFF2-40B4-BE49-F238E27FC236}">
                  <a16:creationId xmlns:a16="http://schemas.microsoft.com/office/drawing/2014/main" id="{E5020660-7AB2-E1E9-E3AA-608AA4416BB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40943"/>
              <a:ext cx="1130935" cy="863600"/>
            </a:xfrm>
            <a:prstGeom prst="rect">
              <a:avLst/>
            </a:prstGeom>
          </p:spPr>
        </p:pic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7EE570A7-1B54-8A30-2BCC-5EE077BAB4F1}"/>
                </a:ext>
              </a:extLst>
            </p:cNvPr>
            <p:cNvGrpSpPr/>
            <p:nvPr/>
          </p:nvGrpSpPr>
          <p:grpSpPr>
            <a:xfrm>
              <a:off x="1282889" y="0"/>
              <a:ext cx="5098650" cy="967536"/>
              <a:chOff x="1316693" y="0"/>
              <a:chExt cx="5098791" cy="967562"/>
            </a:xfrm>
          </p:grpSpPr>
          <p:pic>
            <p:nvPicPr>
              <p:cNvPr id="7" name="Picture 6" descr="A logo with a ribbon and a logo&#10;&#10;AI-generated content may be incorrect.">
                <a:extLst>
                  <a:ext uri="{FF2B5EF4-FFF2-40B4-BE49-F238E27FC236}">
                    <a16:creationId xmlns:a16="http://schemas.microsoft.com/office/drawing/2014/main" id="{EEE8C1B8-A33E-1F99-EF60-67035EAC412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151495" y="197986"/>
                <a:ext cx="1263989" cy="495069"/>
              </a:xfrm>
              <a:prstGeom prst="rect">
                <a:avLst/>
              </a:prstGeom>
            </p:spPr>
          </p:pic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8A6EE56B-E499-95AF-B618-F305078E824F}"/>
                  </a:ext>
                </a:extLst>
              </p:cNvPr>
              <p:cNvCxnSpPr/>
              <p:nvPr/>
            </p:nvCxnSpPr>
            <p:spPr>
              <a:xfrm>
                <a:off x="1316693" y="60198"/>
                <a:ext cx="0" cy="828022"/>
              </a:xfrm>
              <a:prstGeom prst="line">
                <a:avLst/>
              </a:prstGeom>
              <a:ln w="63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F5949234-81BC-2E73-1C01-DC8E33B7A2A8}"/>
                  </a:ext>
                </a:extLst>
              </p:cNvPr>
              <p:cNvSpPr/>
              <p:nvPr/>
            </p:nvSpPr>
            <p:spPr>
              <a:xfrm>
                <a:off x="1316693" y="0"/>
                <a:ext cx="3984582" cy="96756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lnSpc>
                    <a:spcPct val="150000"/>
                  </a:lnSpc>
                  <a:spcAft>
                    <a:spcPts val="800"/>
                  </a:spcAft>
                  <a:buNone/>
                </a:pPr>
                <a:r>
                  <a:rPr lang="en-IN" sz="1600" kern="100" dirty="0">
                    <a:solidFill>
                      <a:srgbClr val="000000"/>
                    </a:solidFill>
                    <a:effectLst/>
                    <a:latin typeface="Raleway" pitchFamily="2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Autonomous Institute, Affiliated to </a:t>
                </a:r>
                <a:r>
                  <a:rPr lang="en-IN" sz="1600" b="1" kern="100" dirty="0">
                    <a:solidFill>
                      <a:srgbClr val="000000"/>
                    </a:solidFill>
                    <a:effectLst/>
                    <a:latin typeface="Raleway" pitchFamily="2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JNTUH,</a:t>
                </a:r>
                <a:endParaRPr lang="en-IN" sz="1600" kern="100" dirty="0">
                  <a:effectLst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  <a:spcAft>
                    <a:spcPts val="800"/>
                  </a:spcAft>
                  <a:buNone/>
                </a:pPr>
                <a:r>
                  <a:rPr lang="en-IN" sz="1600" kern="100" dirty="0">
                    <a:solidFill>
                      <a:srgbClr val="000000"/>
                    </a:solidFill>
                    <a:effectLst/>
                    <a:latin typeface="Raleway" pitchFamily="2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Approved by </a:t>
                </a:r>
                <a:r>
                  <a:rPr lang="en-IN" sz="1600" b="1" kern="100" dirty="0">
                    <a:solidFill>
                      <a:srgbClr val="000000"/>
                    </a:solidFill>
                    <a:effectLst/>
                    <a:latin typeface="Raleway" pitchFamily="2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AICTE, </a:t>
                </a:r>
                <a:r>
                  <a:rPr lang="en-IN" sz="1600" kern="100" dirty="0">
                    <a:solidFill>
                      <a:srgbClr val="000000"/>
                    </a:solidFill>
                    <a:effectLst/>
                    <a:latin typeface="Raleway" pitchFamily="2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Accredited by </a:t>
                </a:r>
                <a:r>
                  <a:rPr lang="en-IN" sz="1600" b="1" kern="100" dirty="0">
                    <a:solidFill>
                      <a:srgbClr val="000000"/>
                    </a:solidFill>
                    <a:effectLst/>
                    <a:latin typeface="Raleway" pitchFamily="2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NAAC </a:t>
                </a:r>
                <a:r>
                  <a:rPr lang="en-IN" sz="1600" kern="100" dirty="0">
                    <a:solidFill>
                      <a:srgbClr val="000000"/>
                    </a:solidFill>
                    <a:effectLst/>
                    <a:latin typeface="Raleway" pitchFamily="2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with </a:t>
                </a:r>
                <a:r>
                  <a:rPr lang="en-IN" sz="1600" b="1" kern="100" dirty="0">
                    <a:solidFill>
                      <a:srgbClr val="000000"/>
                    </a:solidFill>
                    <a:effectLst/>
                    <a:latin typeface="Raleway" pitchFamily="2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A</a:t>
                </a:r>
                <a:r>
                  <a:rPr lang="en-IN" sz="1600" kern="100" dirty="0">
                    <a:solidFill>
                      <a:srgbClr val="000000"/>
                    </a:solidFill>
                    <a:effectLst/>
                    <a:latin typeface="Raleway" pitchFamily="2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++ Grade</a:t>
                </a:r>
                <a:endParaRPr lang="en-IN" sz="1600" kern="100" dirty="0">
                  <a:effectLst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  <a:spcAft>
                    <a:spcPts val="800"/>
                  </a:spcAft>
                  <a:buNone/>
                </a:pPr>
                <a:r>
                  <a:rPr lang="en-IN" sz="1600" kern="100" dirty="0">
                    <a:solidFill>
                      <a:srgbClr val="000000"/>
                    </a:solidFill>
                    <a:effectLst/>
                    <a:latin typeface="Raleway" pitchFamily="2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Kacharam, Shamshabad, Hyderabad- 501 218,</a:t>
                </a:r>
                <a:r>
                  <a:rPr lang="en-IN" sz="1600" kern="100" dirty="0">
                    <a:ea typeface="Aptos" panose="020B000402020202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IN" sz="1600" kern="100" dirty="0">
                    <a:solidFill>
                      <a:srgbClr val="000000"/>
                    </a:solidFill>
                    <a:effectLst/>
                    <a:latin typeface="Raleway" pitchFamily="2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Telangana, India.</a:t>
                </a:r>
                <a:endParaRPr lang="en-IN" sz="1600" kern="100" dirty="0">
                  <a:effectLst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</p:txBody>
          </p:sp>
        </p:grp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4AD5FF62-D58D-94F6-3464-1A68AB0A9942}"/>
              </a:ext>
            </a:extLst>
          </p:cNvPr>
          <p:cNvSpPr txBox="1"/>
          <p:nvPr/>
        </p:nvSpPr>
        <p:spPr>
          <a:xfrm>
            <a:off x="8986101" y="5128832"/>
            <a:ext cx="304701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Aptos" panose="020B0004020202020204" pitchFamily="34" charset="0"/>
              </a:rPr>
              <a:t>Presented By, </a:t>
            </a:r>
          </a:p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Aptos" panose="020B0004020202020204" pitchFamily="34" charset="0"/>
              </a:rPr>
              <a:t>Mr. Ganesh Deshmukh,</a:t>
            </a:r>
          </a:p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Aptos" panose="020B0004020202020204" pitchFamily="34" charset="0"/>
              </a:rPr>
              <a:t>Assistant Professor, CSE</a:t>
            </a:r>
            <a:endParaRPr lang="en-IN" b="1" dirty="0">
              <a:solidFill>
                <a:schemeClr val="bg2">
                  <a:lumMod val="25000"/>
                </a:schemeClr>
              </a:solidFill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Session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dirty="0"/>
              <a:t> Understand basics of C++ language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dirty="0"/>
              <a:t> Explain features of C++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dirty="0"/>
              <a:t> Compare C and C++ programming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dirty="0"/>
              <a:t> Understand OOP concepts in C++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What is C++?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C++ is a general-purpose, object-oriented programming language</a:t>
            </a:r>
          </a:p>
          <a:p>
            <a:r>
              <a:t>developed by Bjarne Stroustrup.</a:t>
            </a:r>
          </a:p>
          <a:p>
            <a:endParaRPr/>
          </a:p>
          <a:p>
            <a:r>
              <a:t>It is an extension of C language with OOP features.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Features of C++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   </a:t>
            </a:r>
            <a:r>
              <a:rPr dirty="0"/>
              <a:t>Object-Oriented Programming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   </a:t>
            </a:r>
            <a:r>
              <a:rPr dirty="0"/>
              <a:t>Rich Standard Template Library (STL)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   </a:t>
            </a:r>
            <a:r>
              <a:rPr dirty="0"/>
              <a:t>Dynamic Memory Management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   </a:t>
            </a:r>
            <a:r>
              <a:rPr dirty="0"/>
              <a:t>High Performance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   </a:t>
            </a:r>
            <a:r>
              <a:rPr dirty="0"/>
              <a:t>Platform Independent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C vs C++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 Language:</a:t>
            </a:r>
          </a:p>
          <a:p>
            <a:pPr>
              <a:buFont typeface="Wingdings" panose="05000000000000000000" pitchFamily="2" charset="2"/>
              <a:buChar char="v"/>
            </a:pPr>
            <a:r>
              <a:rPr dirty="0"/>
              <a:t>Procedural Programming</a:t>
            </a:r>
          </a:p>
          <a:p>
            <a:pPr>
              <a:buFont typeface="Wingdings" panose="05000000000000000000" pitchFamily="2" charset="2"/>
              <a:buChar char="v"/>
            </a:pPr>
            <a:r>
              <a:rPr dirty="0"/>
              <a:t>No OOP support</a:t>
            </a:r>
          </a:p>
          <a:p>
            <a:endParaRPr dirty="0"/>
          </a:p>
          <a:p>
            <a:r>
              <a:rPr dirty="0"/>
              <a:t>C++ Language:</a:t>
            </a:r>
          </a:p>
          <a:p>
            <a:pPr>
              <a:buFont typeface="Wingdings" panose="05000000000000000000" pitchFamily="2" charset="2"/>
              <a:buChar char="v"/>
            </a:pPr>
            <a:r>
              <a:rPr dirty="0"/>
              <a:t>Object-Oriented Programming</a:t>
            </a:r>
          </a:p>
          <a:p>
            <a:pPr>
              <a:buFont typeface="Wingdings" panose="05000000000000000000" pitchFamily="2" charset="2"/>
              <a:buChar char="v"/>
            </a:pPr>
            <a:r>
              <a:rPr dirty="0"/>
              <a:t>Supports Classes &amp; Objects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Basic Structure of C++ Program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#include &lt;iostream&gt;</a:t>
            </a:r>
          </a:p>
          <a:p>
            <a:r>
              <a:rPr dirty="0"/>
              <a:t>using namespace std;</a:t>
            </a:r>
          </a:p>
          <a:p>
            <a:endParaRPr dirty="0"/>
          </a:p>
          <a:p>
            <a:r>
              <a:rPr dirty="0"/>
              <a:t>int main() {</a:t>
            </a:r>
          </a:p>
          <a:p>
            <a:r>
              <a:rPr dirty="0"/>
              <a:t>   </a:t>
            </a:r>
            <a:r>
              <a:rPr dirty="0" err="1"/>
              <a:t>cout</a:t>
            </a:r>
            <a:r>
              <a:rPr dirty="0"/>
              <a:t> &lt;&lt; "Hello World";</a:t>
            </a:r>
          </a:p>
          <a:p>
            <a:r>
              <a:rPr dirty="0"/>
              <a:t>   return 0;</a:t>
            </a:r>
          </a:p>
          <a:p>
            <a:r>
              <a:rPr dirty="0"/>
              <a:t>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OOP Concepts in C++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Class and Object</a:t>
            </a:r>
          </a:p>
          <a:p>
            <a:r>
              <a:t>• Encapsulation</a:t>
            </a:r>
          </a:p>
          <a:p>
            <a:r>
              <a:t>• Abstraction</a:t>
            </a:r>
          </a:p>
          <a:p>
            <a:r>
              <a:t>• Inheritance</a:t>
            </a:r>
          </a:p>
          <a:p>
            <a:r>
              <a:t>• Polymorphism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Advantages of C++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Code Reusability</a:t>
            </a:r>
          </a:p>
          <a:p>
            <a:r>
              <a:t>• Data Security</a:t>
            </a:r>
          </a:p>
          <a:p>
            <a:r>
              <a:t>• Modular Programming</a:t>
            </a:r>
          </a:p>
          <a:p>
            <a:r>
              <a:t>• Suitable for System and Application Development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Applications of C++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Game Development</a:t>
            </a:r>
          </a:p>
          <a:p>
            <a:r>
              <a:t>• Operating Systems</a:t>
            </a:r>
          </a:p>
          <a:p>
            <a:r>
              <a:t>• Embedded Systems</a:t>
            </a:r>
          </a:p>
          <a:p>
            <a:r>
              <a:t>• Data Structures &amp; Algorithms</a:t>
            </a:r>
          </a:p>
          <a:p>
            <a:r>
              <a:t>• Software Development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Important Exam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Explain features of C++</a:t>
            </a:r>
          </a:p>
          <a:p>
            <a:r>
              <a:t>2. Difference between C and C++</a:t>
            </a:r>
          </a:p>
          <a:p>
            <a:r>
              <a:t>3. Structure of C++ program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MCQs – Practice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C++ is a:</a:t>
            </a:r>
          </a:p>
          <a:p>
            <a:r>
              <a:t>a) Procedural  b) Object-Oriented  c) Markup  d) Scripting</a:t>
            </a:r>
          </a:p>
          <a:p>
            <a:endParaRPr/>
          </a:p>
          <a:p>
            <a:r>
              <a:t>2. C++ was developed by:</a:t>
            </a:r>
          </a:p>
          <a:p>
            <a:r>
              <a:t>a) Dennis Ritchie  b) Bjarne Stroustrup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9</TotalTime>
  <Words>313</Words>
  <Application>Microsoft Office PowerPoint</Application>
  <PresentationFormat>Widescreen</PresentationFormat>
  <Paragraphs>67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Aptos</vt:lpstr>
      <vt:lpstr>Calibri</vt:lpstr>
      <vt:lpstr>Calibri Light</vt:lpstr>
      <vt:lpstr>Raleway</vt:lpstr>
      <vt:lpstr>Wingdings</vt:lpstr>
      <vt:lpstr>Retrospect</vt:lpstr>
      <vt:lpstr>MODULE-1 INTRODUCTION TO C++</vt:lpstr>
      <vt:lpstr>Session Outcomes</vt:lpstr>
      <vt:lpstr>What is C++?</vt:lpstr>
      <vt:lpstr>Features of C++</vt:lpstr>
      <vt:lpstr>C vs C++</vt:lpstr>
      <vt:lpstr>Basic Structure of C++ Program</vt:lpstr>
      <vt:lpstr>OOP Concepts in C++</vt:lpstr>
      <vt:lpstr>Advantages of C++</vt:lpstr>
      <vt:lpstr>Applications of C++</vt:lpstr>
      <vt:lpstr>Important Exam Questions</vt:lpstr>
      <vt:lpstr>MCQs – Practice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hp</dc:creator>
  <cp:keywords/>
  <dc:description>generated using python-pptx</dc:description>
  <cp:lastModifiedBy>Ganesh Deshmukh</cp:lastModifiedBy>
  <cp:revision>2</cp:revision>
  <dcterms:created xsi:type="dcterms:W3CDTF">2013-01-27T09:14:16Z</dcterms:created>
  <dcterms:modified xsi:type="dcterms:W3CDTF">2026-02-19T07:11:01Z</dcterms:modified>
  <cp:category/>
</cp:coreProperties>
</file>