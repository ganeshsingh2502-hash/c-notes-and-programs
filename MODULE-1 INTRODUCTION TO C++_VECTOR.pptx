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70" r:id="rId11"/>
    <p:sldId id="271" r:id="rId12"/>
    <p:sldId id="272" r:id="rId13"/>
    <p:sldId id="273" r:id="rId14"/>
    <p:sldId id="27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98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1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6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5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6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0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2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8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18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7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08A5E6-AD9F-4825-ABB0-2A9E541EC24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24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9AD9-560C-4CB9-217E-D835F8F4E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MODULE-1 INTRODUCTION TO C++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03890-041E-0EF4-1D81-47571F122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VECTOR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EB4BD-1D98-D859-20BB-BB9E99D85876}"/>
              </a:ext>
            </a:extLst>
          </p:cNvPr>
          <p:cNvSpPr txBox="1"/>
          <p:nvPr/>
        </p:nvSpPr>
        <p:spPr>
          <a:xfrm>
            <a:off x="8964890" y="4888210"/>
            <a:ext cx="2758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478C96-A3C8-7CEF-CB10-C679DA509AAF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6F3EAF10-9219-A28B-C114-764CB9FCC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45916D-56E0-71D1-0EEA-5B7C91A7884A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D2CC05E7-F524-379D-23F1-E37D88438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C4CA0C8-26C3-842C-FFE3-219B2724E03E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B0E2DF-31BF-6670-3D72-7A968FF8871F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077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00AB-2732-E0CF-4ACE-A173559B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598" y="239931"/>
            <a:ext cx="10058400" cy="145075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  <a:endParaRPr lang="en-IN" sz="28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6CCE-D480-8EF6-ABAB-7EF5845E7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I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Define</a:t>
            </a:r>
            <a:r>
              <a:rPr lang="en-IN" dirty="0"/>
              <a:t> a vector and explain its role as a dynamic array in the C++ Standard Template Library.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Perform various operations</a:t>
            </a:r>
            <a:r>
              <a:rPr lang="en-IN" dirty="0"/>
              <a:t> on vectors using built-in member functions.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Apply STL algorithms</a:t>
            </a:r>
            <a:r>
              <a:rPr lang="en-IN" dirty="0"/>
              <a:t> such as sorting and searching on vectors.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Differentiate</a:t>
            </a:r>
            <a:r>
              <a:rPr lang="en-IN" dirty="0"/>
              <a:t> vector from array, list, and deque based on memory layout and operations.</a:t>
            </a:r>
          </a:p>
        </p:txBody>
      </p:sp>
    </p:spTree>
    <p:extLst>
      <p:ext uri="{BB962C8B-B14F-4D97-AF65-F5344CB8AC3E}">
        <p14:creationId xmlns:p14="http://schemas.microsoft.com/office/powerpoint/2010/main" val="242931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36BC-8699-22B7-657A-558B2781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Vector in C++?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4079-93DD-EFB5-A907-40680156B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Definition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 </a:t>
            </a:r>
            <a:r>
              <a:rPr lang="en-IN" b="1" dirty="0"/>
              <a:t>vector</a:t>
            </a:r>
            <a:r>
              <a:rPr lang="en-IN" dirty="0"/>
              <a:t> is a </a:t>
            </a:r>
            <a:r>
              <a:rPr lang="en-IN" b="1" dirty="0"/>
              <a:t>dynamic array</a:t>
            </a:r>
            <a:r>
              <a:rPr lang="en-IN" dirty="0"/>
              <a:t> provided by the </a:t>
            </a:r>
            <a:r>
              <a:rPr lang="en-IN" b="1" dirty="0"/>
              <a:t>C++ Standard Template Library (STL)</a:t>
            </a:r>
            <a:r>
              <a:rPr lang="en-IN" dirty="0"/>
              <a:t> that stores elements in </a:t>
            </a:r>
            <a:r>
              <a:rPr lang="en-IN" b="1" dirty="0"/>
              <a:t>contiguous memory locations</a:t>
            </a:r>
            <a:r>
              <a:rPr lang="en-IN" dirty="0"/>
              <a:t> and can </a:t>
            </a:r>
            <a:r>
              <a:rPr lang="en-IN" b="1" dirty="0"/>
              <a:t>automatically grow or shrink in size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In simple terms: A vector works like an array, but you </a:t>
            </a:r>
            <a:r>
              <a:rPr lang="en-IN" b="1" dirty="0"/>
              <a:t>don’t need to fix its size in advance</a:t>
            </a:r>
            <a:r>
              <a:rPr lang="en-IN" dirty="0"/>
              <a:t>.</a:t>
            </a:r>
            <a:endParaRPr lang="en-IN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5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E6AD-5547-0342-6FD0-1A36E33E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ptos" panose="020B0004020202020204" pitchFamily="34" charset="0"/>
              </a:rPr>
              <a:t>Key Characteristics</a:t>
            </a:r>
            <a:endParaRPr lang="en-IN" sz="28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651A4-3291-F278-821C-E519F3178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Dynamic size</a:t>
            </a:r>
            <a:r>
              <a:rPr lang="en-IN" dirty="0"/>
              <a:t> (resizes automatically).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Random access</a:t>
            </a:r>
            <a:r>
              <a:rPr lang="en-IN" dirty="0"/>
              <a:t> using index (v[i])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Stores elements in </a:t>
            </a:r>
            <a:r>
              <a:rPr lang="en-IN" b="1" dirty="0"/>
              <a:t>contiguous memory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Fast insertion/removal at the </a:t>
            </a:r>
            <a:r>
              <a:rPr lang="en-IN" b="1" dirty="0"/>
              <a:t>end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Slower insertion/removal in the </a:t>
            </a:r>
            <a:r>
              <a:rPr lang="en-IN" b="1" dirty="0"/>
              <a:t>middle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180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134A-0021-6214-C28E-427C652D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and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4708-C5BD-969B-C5D2-F8246B2E3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Syntax: </a:t>
            </a:r>
          </a:p>
          <a:p>
            <a:pPr marL="0" indent="0">
              <a:buNone/>
            </a:pPr>
            <a:r>
              <a:rPr lang="en-IN" dirty="0"/>
              <a:t>		vector&lt;datatype&gt; </a:t>
            </a:r>
            <a:r>
              <a:rPr lang="en-IN" dirty="0" err="1"/>
              <a:t>vector_name</a:t>
            </a:r>
            <a:r>
              <a:rPr lang="en-IN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</a:p>
          <a:p>
            <a:pPr marL="0" indent="0">
              <a:buNone/>
            </a:pPr>
            <a:r>
              <a:rPr lang="en-IN" dirty="0"/>
              <a:t>		vector&lt;int&gt; v;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Example: Declaration and initialization</a:t>
            </a:r>
          </a:p>
          <a:p>
            <a:pPr marL="0" indent="0">
              <a:buNone/>
            </a:pPr>
            <a:r>
              <a:rPr lang="en-IN" dirty="0"/>
              <a:t>		vector&lt;int&gt; v = {10, 20, 30};</a:t>
            </a:r>
          </a:p>
          <a:p>
            <a:pPr marL="1208560" lvl="6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45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4F11-0B5D-E799-906E-6E53CAD8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8E5E-335F-298D-71A4-96D0BF1E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Example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0E2C-EAF8-72D0-EF0A-C8774259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#include &lt;vector&gt;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vector&lt;int&gt; v;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v.push_back</a:t>
            </a:r>
            <a:r>
              <a:rPr lang="en-IN" dirty="0"/>
              <a:t>(10);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v.push_back</a:t>
            </a:r>
            <a:r>
              <a:rPr lang="en-IN" dirty="0"/>
              <a:t>(20);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v.push_back</a:t>
            </a:r>
            <a:r>
              <a:rPr lang="en-IN" dirty="0"/>
              <a:t>(30);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044AF-6B8B-0C09-D859-2F6FB5638412}"/>
              </a:ext>
            </a:extLst>
          </p:cNvPr>
          <p:cNvSpPr txBox="1"/>
          <p:nvPr/>
        </p:nvSpPr>
        <p:spPr>
          <a:xfrm>
            <a:off x="3999322" y="1845734"/>
            <a:ext cx="51352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cout</a:t>
            </a:r>
            <a:r>
              <a:rPr lang="en-IN" dirty="0"/>
              <a:t> &lt;&lt; "Vector elements: ";</a:t>
            </a:r>
          </a:p>
          <a:p>
            <a:r>
              <a:rPr lang="en-IN" dirty="0"/>
              <a:t>    for(int i = 0; i &lt; </a:t>
            </a:r>
            <a:r>
              <a:rPr lang="en-IN" dirty="0" err="1"/>
              <a:t>v.size</a:t>
            </a:r>
            <a:r>
              <a:rPr lang="en-IN" dirty="0"/>
              <a:t>(); i++) {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v[i] &lt;&lt; " ";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6042B-62A0-19F7-DF74-79BA013D4A6C}"/>
              </a:ext>
            </a:extLst>
          </p:cNvPr>
          <p:cNvSpPr txBox="1"/>
          <p:nvPr/>
        </p:nvSpPr>
        <p:spPr>
          <a:xfrm>
            <a:off x="3697665" y="450374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Output: </a:t>
            </a:r>
          </a:p>
          <a:p>
            <a:r>
              <a:rPr lang="en-IN" dirty="0"/>
              <a:t>    Vector elements: 10 20 30</a:t>
            </a:r>
          </a:p>
        </p:txBody>
      </p:sp>
    </p:spTree>
    <p:extLst>
      <p:ext uri="{BB962C8B-B14F-4D97-AF65-F5344CB8AC3E}">
        <p14:creationId xmlns:p14="http://schemas.microsoft.com/office/powerpoint/2010/main" val="147378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238A-0019-50D0-E448-7D8C720D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03B3-2467-BFE4-FD1B-144A6621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Operations supported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D5A2-F013-A73E-38C7-D2499715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Insertion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Deletion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Accessing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Traversal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Searching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Sorting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Size &amp; Capacity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1D0ED-B283-0E1D-5F69-7B103E9F1F20}"/>
              </a:ext>
            </a:extLst>
          </p:cNvPr>
          <p:cNvSpPr txBox="1"/>
          <p:nvPr/>
        </p:nvSpPr>
        <p:spPr>
          <a:xfrm>
            <a:off x="5196526" y="184573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708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51AF-9F23-34A6-FF0E-ECC18987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454E-CB12-B685-E5F4-3225546A4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Insert element at the end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</a:t>
            </a:r>
            <a:r>
              <a:rPr lang="en-IN" dirty="0" err="1"/>
              <a:t>push_back</a:t>
            </a:r>
            <a:r>
              <a:rPr lang="en-IN" dirty="0"/>
              <a:t>()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v.push_back</a:t>
            </a:r>
            <a:r>
              <a:rPr lang="en-IN" dirty="0"/>
              <a:t>(10);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Insert element at a specific 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insert()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v.insert</a:t>
            </a:r>
            <a:r>
              <a:rPr lang="en-IN" dirty="0"/>
              <a:t>(</a:t>
            </a:r>
            <a:r>
              <a:rPr lang="en-IN" dirty="0" err="1"/>
              <a:t>v.begin</a:t>
            </a:r>
            <a:r>
              <a:rPr lang="en-IN" dirty="0"/>
              <a:t>()+1, 20);</a:t>
            </a:r>
          </a:p>
          <a:p>
            <a:pPr marL="201168" lvl="1" indent="0">
              <a:buNone/>
            </a:pPr>
            <a:r>
              <a:rPr lang="en-IN" dirty="0"/>
              <a:t>	       </a:t>
            </a:r>
            <a:r>
              <a:rPr lang="en-IN" dirty="0" err="1"/>
              <a:t>v.insert</a:t>
            </a:r>
            <a:r>
              <a:rPr lang="en-IN" dirty="0"/>
              <a:t>(</a:t>
            </a:r>
            <a:r>
              <a:rPr lang="en-IN" dirty="0" err="1"/>
              <a:t>v.begin</a:t>
            </a:r>
            <a:r>
              <a:rPr lang="en-IN" dirty="0"/>
              <a:t>(), 3, 5);</a:t>
            </a:r>
          </a:p>
          <a:p>
            <a:pPr marL="871400" lvl="5" indent="0">
              <a:buNone/>
            </a:pPr>
            <a:r>
              <a:rPr lang="en-IN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65521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D98B6-D410-2BC1-8136-13EAC0A4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6157-8D4F-12D3-63E9-0B0B1C00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deletion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40872-2958-CEF5-68FC-BCC3A9D9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Remove last element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</a:t>
            </a:r>
            <a:r>
              <a:rPr lang="en-IN" dirty="0" err="1"/>
              <a:t>pop_back</a:t>
            </a:r>
            <a:r>
              <a:rPr lang="en-IN" dirty="0"/>
              <a:t>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v.pop_back</a:t>
            </a:r>
            <a:r>
              <a:rPr lang="en-IN" dirty="0"/>
              <a:t>();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Remove element at a 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erase()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v.erase</a:t>
            </a:r>
            <a:r>
              <a:rPr lang="en-IN" dirty="0"/>
              <a:t>(</a:t>
            </a:r>
            <a:r>
              <a:rPr lang="en-IN" dirty="0" err="1"/>
              <a:t>v.begin</a:t>
            </a:r>
            <a:r>
              <a:rPr lang="en-IN" dirty="0"/>
              <a:t>()+1);</a:t>
            </a:r>
          </a:p>
          <a:p>
            <a:pPr marL="0" indent="0">
              <a:buNone/>
            </a:pPr>
            <a:r>
              <a:rPr lang="en-IN" dirty="0"/>
              <a:t>3. Clear all elements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clear()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v.clear</a:t>
            </a:r>
            <a:r>
              <a:rPr lang="en-IN" dirty="0"/>
              <a:t>(); </a:t>
            </a:r>
          </a:p>
          <a:p>
            <a:pPr marL="871400" lvl="5" indent="0">
              <a:buNone/>
            </a:pPr>
            <a:r>
              <a:rPr lang="en-IN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85884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DAAE-1133-C8A2-DC38-2DB62763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3411-6AA8-9F60-1B7C-106FB6AB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Accessing Elements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B7FD2-6987-2D6E-DA12-BC834747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Access using index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[]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v[0];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Access with bounds checking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at()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v.at(1);</a:t>
            </a:r>
          </a:p>
          <a:p>
            <a:pPr marL="0" indent="0">
              <a:buNone/>
            </a:pPr>
            <a:r>
              <a:rPr lang="en-IN" dirty="0"/>
              <a:t>3. Access first and last element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front(), back()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v.front</a:t>
            </a:r>
            <a:r>
              <a:rPr lang="en-IN" dirty="0"/>
              <a:t>(); , </a:t>
            </a:r>
            <a:r>
              <a:rPr lang="en-IN" dirty="0" err="1"/>
              <a:t>v.back</a:t>
            </a:r>
            <a:r>
              <a:rPr lang="en-IN" dirty="0"/>
              <a:t>();			</a:t>
            </a:r>
          </a:p>
        </p:txBody>
      </p:sp>
    </p:spTree>
    <p:extLst>
      <p:ext uri="{BB962C8B-B14F-4D97-AF65-F5344CB8AC3E}">
        <p14:creationId xmlns:p14="http://schemas.microsoft.com/office/powerpoint/2010/main" val="3521786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675D4-69D5-ED38-1476-D533496B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48D6-CFE7-36BC-26D7-8A61A1ED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Traversal Operations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909F-D51A-A876-7F6B-9C77C2375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Traverse using index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for(int i=0;i&lt;</a:t>
            </a:r>
            <a:r>
              <a:rPr lang="en-IN" dirty="0" err="1"/>
              <a:t>v.size</a:t>
            </a:r>
            <a:r>
              <a:rPr lang="en-IN" dirty="0"/>
              <a:t>();i++) </a:t>
            </a:r>
            <a:r>
              <a:rPr lang="en-IN" dirty="0" err="1"/>
              <a:t>cout</a:t>
            </a:r>
            <a:r>
              <a:rPr lang="en-IN" dirty="0"/>
              <a:t>&lt;&lt;v[i];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Traverse using iterator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for(auto it=</a:t>
            </a:r>
            <a:r>
              <a:rPr lang="en-IN" dirty="0" err="1"/>
              <a:t>v.begin</a:t>
            </a:r>
            <a:r>
              <a:rPr lang="en-IN" dirty="0"/>
              <a:t>();it!=</a:t>
            </a:r>
            <a:r>
              <a:rPr lang="en-IN" dirty="0" err="1"/>
              <a:t>v.end</a:t>
            </a:r>
            <a:r>
              <a:rPr lang="en-IN" dirty="0"/>
              <a:t>();it++) </a:t>
            </a:r>
            <a:r>
              <a:rPr lang="en-IN" dirty="0" err="1"/>
              <a:t>cout</a:t>
            </a:r>
            <a:r>
              <a:rPr lang="en-IN" dirty="0"/>
              <a:t>&lt;&lt;*it;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3. Traverse using range-based loop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for(auto x:v) </a:t>
            </a:r>
            <a:r>
              <a:rPr lang="en-IN" dirty="0" err="1"/>
              <a:t>cout</a:t>
            </a:r>
            <a:r>
              <a:rPr lang="en-IN" dirty="0"/>
              <a:t>&lt;&lt;x;			</a:t>
            </a:r>
          </a:p>
        </p:txBody>
      </p:sp>
    </p:spTree>
    <p:extLst>
      <p:ext uri="{BB962C8B-B14F-4D97-AF65-F5344CB8AC3E}">
        <p14:creationId xmlns:p14="http://schemas.microsoft.com/office/powerpoint/2010/main" val="142394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5066-8E5A-4094-54D7-52C2B427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0856-E17D-F4BF-515A-C505899C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Searching Operations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B54BD-88B8-0080-3C6C-F3BEA93A4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Linear search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find()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find(</a:t>
            </a:r>
            <a:r>
              <a:rPr lang="en-IN" dirty="0" err="1"/>
              <a:t>v.begin</a:t>
            </a:r>
            <a:r>
              <a:rPr lang="en-IN" dirty="0"/>
              <a:t>(), </a:t>
            </a:r>
            <a:r>
              <a:rPr lang="en-IN" dirty="0" err="1"/>
              <a:t>v.end</a:t>
            </a:r>
            <a:r>
              <a:rPr lang="en-IN" dirty="0"/>
              <a:t>(), 10);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Binary search (on sorted vector)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</a:t>
            </a:r>
            <a:r>
              <a:rPr lang="en-IN" dirty="0" err="1"/>
              <a:t>binary_search</a:t>
            </a:r>
            <a:r>
              <a:rPr lang="en-IN" dirty="0"/>
              <a:t>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binary_search</a:t>
            </a:r>
            <a:r>
              <a:rPr lang="en-IN" dirty="0"/>
              <a:t>(</a:t>
            </a:r>
            <a:r>
              <a:rPr lang="en-IN" dirty="0" err="1"/>
              <a:t>v.begin</a:t>
            </a:r>
            <a:r>
              <a:rPr lang="en-IN" dirty="0"/>
              <a:t>(), </a:t>
            </a:r>
            <a:r>
              <a:rPr lang="en-IN" dirty="0" err="1"/>
              <a:t>v.end</a:t>
            </a:r>
            <a:r>
              <a:rPr lang="en-IN" dirty="0"/>
              <a:t>(), 10);</a:t>
            </a:r>
          </a:p>
          <a:p>
            <a:pPr marL="201168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741749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E019-02D0-7988-7452-34859F58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E266-3786-D618-4377-7D95F66E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Sorting Operations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D02CA-D2BA-29B3-2950-50BEDAB13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Sort in ascending order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sort()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sort(</a:t>
            </a:r>
            <a:r>
              <a:rPr lang="en-IN" dirty="0" err="1"/>
              <a:t>v.begin</a:t>
            </a:r>
            <a:r>
              <a:rPr lang="en-IN" dirty="0"/>
              <a:t>(), </a:t>
            </a:r>
            <a:r>
              <a:rPr lang="en-IN" dirty="0" err="1"/>
              <a:t>v.end</a:t>
            </a:r>
            <a:r>
              <a:rPr lang="en-IN" dirty="0"/>
              <a:t>());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Sort in descending order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sort()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sort(</a:t>
            </a:r>
            <a:r>
              <a:rPr lang="en-IN" dirty="0" err="1"/>
              <a:t>v.begin</a:t>
            </a:r>
            <a:r>
              <a:rPr lang="en-IN" dirty="0"/>
              <a:t>(), </a:t>
            </a:r>
            <a:r>
              <a:rPr lang="en-IN" dirty="0" err="1"/>
              <a:t>v.end</a:t>
            </a:r>
            <a:r>
              <a:rPr lang="en-IN" dirty="0"/>
              <a:t>(), greater&lt;int&gt;());</a:t>
            </a:r>
          </a:p>
          <a:p>
            <a:pPr marL="0" indent="0">
              <a:buNone/>
            </a:pPr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199761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0D4-C1C2-BA61-A1E1-FCEBF13C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5EA0-B218-A817-C47F-0CFDBD9D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Size &amp; Capacity Operations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EB2F4-A9E9-48D9-0882-AD7E94C8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1. Find number of elements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size()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v.size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2. Check if vector is empty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empty()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v.empty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3. Get capacity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capacity();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v.capacity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4. Resize vector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Function: resize();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Example: </a:t>
            </a:r>
            <a:r>
              <a:rPr lang="en-IN" dirty="0" err="1"/>
              <a:t>v.resize</a:t>
            </a:r>
            <a:r>
              <a:rPr lang="en-IN" dirty="0"/>
              <a:t>(5);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760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51A9-46D8-F40A-F1F6-71323755B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800" dirty="0">
              <a:latin typeface="Aptos" panose="020B0004020202020204" pitchFamily="34" charset="0"/>
            </a:endParaRPr>
          </a:p>
          <a:p>
            <a:pPr algn="ctr"/>
            <a:endParaRPr lang="en-US" sz="4800" dirty="0">
              <a:latin typeface="Aptos" panose="020B0004020202020204" pitchFamily="34" charset="0"/>
            </a:endParaRPr>
          </a:p>
          <a:p>
            <a:pPr algn="ctr"/>
            <a:r>
              <a:rPr lang="en-US" sz="4800" dirty="0">
                <a:latin typeface="Aptos" panose="020B0004020202020204" pitchFamily="34" charset="0"/>
              </a:rPr>
              <a:t>Thank You</a:t>
            </a:r>
            <a:endParaRPr lang="en-IN" sz="4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200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173</TotalTime>
  <Words>819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a Vector in C++?</vt:lpstr>
      <vt:lpstr>Key Characteristics</vt:lpstr>
      <vt:lpstr>Syntax and Example</vt:lpstr>
      <vt:lpstr>Example Program</vt:lpstr>
      <vt:lpstr>Operations supported</vt:lpstr>
      <vt:lpstr>insertion</vt:lpstr>
      <vt:lpstr>deletion</vt:lpstr>
      <vt:lpstr>Accessing Elements</vt:lpstr>
      <vt:lpstr>Traversal Operations</vt:lpstr>
      <vt:lpstr>Searching Operations</vt:lpstr>
      <vt:lpstr>Sorting Operations</vt:lpstr>
      <vt:lpstr>Size &amp; Capacity Operations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Deshmukh</dc:creator>
  <cp:lastModifiedBy>Ganesh Deshmukh</cp:lastModifiedBy>
  <cp:revision>11</cp:revision>
  <dcterms:created xsi:type="dcterms:W3CDTF">2026-02-09T05:35:18Z</dcterms:created>
  <dcterms:modified xsi:type="dcterms:W3CDTF">2026-02-10T10:27:10Z</dcterms:modified>
</cp:coreProperties>
</file>